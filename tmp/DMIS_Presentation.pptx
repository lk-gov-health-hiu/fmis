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74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 name="Google Shape;2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 name="Google Shape;2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 name="Google Shape;7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7" name="Google Shape;39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1" name="Google Shape;42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37E"/>
        </a:solidFill>
        <a:effectLst/>
      </p:bgPr>
    </p:bg>
    <p:spTree>
      <p:nvGrpSpPr>
        <p:cNvPr id="1" name="Shape 15"/>
        <p:cNvGrpSpPr/>
        <p:nvPr/>
      </p:nvGrpSpPr>
      <p:grpSpPr>
        <a:xfrm>
          <a:off x="0" y="0"/>
          <a:ext cx="0" cy="0"/>
          <a:chOff x="0" y="0"/>
          <a:chExt cx="0" cy="0"/>
        </a:xfrm>
      </p:grpSpPr>
      <p:sp>
        <p:nvSpPr>
          <p:cNvPr id="16" name="Google Shape;16;p3"/>
          <p:cNvSpPr/>
          <p:nvPr/>
        </p:nvSpPr>
        <p:spPr>
          <a:xfrm>
            <a:off x="0" y="0"/>
            <a:ext cx="9144000" cy="73152"/>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457200" y="640080"/>
            <a:ext cx="8229600" cy="12801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000"/>
              <a:buFont typeface="Calibri"/>
              <a:buNone/>
            </a:pPr>
            <a:r>
              <a:rPr lang="en-US" sz="9000" b="1" i="0" u="none" strike="noStrike" cap="none">
                <a:solidFill>
                  <a:srgbClr val="FFFFFF"/>
                </a:solidFill>
                <a:latin typeface="Calibri"/>
                <a:ea typeface="Calibri"/>
                <a:cs typeface="Calibri"/>
                <a:sym typeface="Calibri"/>
              </a:rPr>
              <a:t>DMIS</a:t>
            </a:r>
            <a:endParaRPr sz="9000" b="0" i="0" u="none" strike="noStrike" cap="none">
              <a:solidFill>
                <a:schemeClr val="dk1"/>
              </a:solidFill>
              <a:latin typeface="Calibri"/>
              <a:ea typeface="Calibri"/>
              <a:cs typeface="Calibri"/>
              <a:sym typeface="Calibri"/>
            </a:endParaRPr>
          </a:p>
        </p:txBody>
      </p:sp>
      <p:sp>
        <p:nvSpPr>
          <p:cNvPr id="18" name="Google Shape;18;p3"/>
          <p:cNvSpPr/>
          <p:nvPr/>
        </p:nvSpPr>
        <p:spPr>
          <a:xfrm>
            <a:off x="457200" y="1828800"/>
            <a:ext cx="822960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B0BEC5"/>
              </a:buClr>
              <a:buSzPts val="2200"/>
              <a:buFont typeface="Calibri"/>
              <a:buNone/>
            </a:pPr>
            <a:r>
              <a:rPr lang="en-US" sz="2200" b="0" i="0" u="none" strike="noStrike" cap="none">
                <a:solidFill>
                  <a:srgbClr val="B0BEC5"/>
                </a:solidFill>
                <a:latin typeface="Calibri"/>
                <a:ea typeface="Calibri"/>
                <a:cs typeface="Calibri"/>
                <a:sym typeface="Calibri"/>
              </a:rPr>
              <a:t>Document Management Information System</a:t>
            </a:r>
            <a:endParaRPr sz="2200" b="0" i="0" u="none" strike="noStrike" cap="none">
              <a:solidFill>
                <a:schemeClr val="dk1"/>
              </a:solidFill>
              <a:latin typeface="Calibri"/>
              <a:ea typeface="Calibri"/>
              <a:cs typeface="Calibri"/>
              <a:sym typeface="Calibri"/>
            </a:endParaRPr>
          </a:p>
        </p:txBody>
      </p:sp>
      <p:sp>
        <p:nvSpPr>
          <p:cNvPr id="19" name="Google Shape;19;p3"/>
          <p:cNvSpPr/>
          <p:nvPr/>
        </p:nvSpPr>
        <p:spPr>
          <a:xfrm>
            <a:off x="2286000" y="2395728"/>
            <a:ext cx="4572000" cy="36576"/>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457200" y="2487168"/>
            <a:ext cx="822960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838F"/>
              </a:buClr>
              <a:buSzPts val="1600"/>
              <a:buFont typeface="Calibri"/>
              <a:buNone/>
            </a:pPr>
            <a:r>
              <a:rPr lang="en-US" sz="1600" b="1" i="0" u="none" strike="noStrike" cap="none">
                <a:solidFill>
                  <a:srgbClr val="00838F"/>
                </a:solidFill>
                <a:latin typeface="Calibri"/>
                <a:ea typeface="Calibri"/>
                <a:cs typeface="Calibri"/>
                <a:sym typeface="Calibri"/>
              </a:rPr>
              <a:t>National Digital Mail Registry</a:t>
            </a:r>
            <a:endParaRPr sz="1600" b="0" i="0" u="none" strike="noStrike" cap="none">
              <a:solidFill>
                <a:schemeClr val="dk1"/>
              </a:solidFill>
              <a:latin typeface="Calibri"/>
              <a:ea typeface="Calibri"/>
              <a:cs typeface="Calibri"/>
              <a:sym typeface="Calibri"/>
            </a:endParaRPr>
          </a:p>
        </p:txBody>
      </p:sp>
      <p:sp>
        <p:nvSpPr>
          <p:cNvPr id="21" name="Google Shape;21;p3"/>
          <p:cNvSpPr/>
          <p:nvPr/>
        </p:nvSpPr>
        <p:spPr>
          <a:xfrm>
            <a:off x="457200" y="3017520"/>
            <a:ext cx="822960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90CAF9"/>
              </a:buClr>
              <a:buSzPts val="1400"/>
              <a:buFont typeface="Calibri"/>
              <a:buNone/>
            </a:pPr>
            <a:r>
              <a:rPr lang="en-US" sz="1400" b="0" i="0" u="none" strike="noStrike" cap="none">
                <a:solidFill>
                  <a:srgbClr val="90CAF9"/>
                </a:solidFill>
                <a:latin typeface="Calibri"/>
                <a:ea typeface="Calibri"/>
                <a:cs typeface="Calibri"/>
                <a:sym typeface="Calibri"/>
              </a:rPr>
              <a:t>Presented by:  </a:t>
            </a:r>
            <a:r>
              <a:rPr lang="en-US" sz="1400" b="1" i="0" u="none" strike="noStrike" cap="none">
                <a:solidFill>
                  <a:srgbClr val="FFFFFF"/>
                </a:solidFill>
                <a:latin typeface="Calibri"/>
                <a:ea typeface="Calibri"/>
                <a:cs typeface="Calibri"/>
                <a:sym typeface="Calibri"/>
              </a:rPr>
              <a:t>Dr A I Jagoda</a:t>
            </a:r>
            <a:endParaRPr sz="1400" b="0" i="0" u="none" strike="noStrike" cap="none">
              <a:solidFill>
                <a:schemeClr val="dk1"/>
              </a:solidFill>
              <a:latin typeface="Calibri"/>
              <a:ea typeface="Calibri"/>
              <a:cs typeface="Calibri"/>
              <a:sym typeface="Calibri"/>
            </a:endParaRPr>
          </a:p>
        </p:txBody>
      </p:sp>
      <p:sp>
        <p:nvSpPr>
          <p:cNvPr id="22" name="Google Shape;22;p3"/>
          <p:cNvSpPr/>
          <p:nvPr/>
        </p:nvSpPr>
        <p:spPr>
          <a:xfrm>
            <a:off x="457200" y="3310128"/>
            <a:ext cx="822960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90CAF9"/>
              </a:buClr>
              <a:buSzPts val="1300"/>
              <a:buFont typeface="Calibri"/>
              <a:buNone/>
            </a:pPr>
            <a:r>
              <a:rPr lang="en-US" sz="1300" b="0" i="0" u="none" strike="noStrike" cap="none">
                <a:solidFill>
                  <a:srgbClr val="90CAF9"/>
                </a:solidFill>
                <a:latin typeface="Calibri"/>
                <a:ea typeface="Calibri"/>
                <a:cs typeface="Calibri"/>
                <a:sym typeface="Calibri"/>
              </a:rPr>
              <a:t>Director (Health Information)  |  Ministry of Health Sri Lanka</a:t>
            </a:r>
            <a:endParaRPr sz="1300" b="0" i="0" u="none" strike="noStrike" cap="none">
              <a:solidFill>
                <a:schemeClr val="dk1"/>
              </a:solidFill>
              <a:latin typeface="Calibri"/>
              <a:ea typeface="Calibri"/>
              <a:cs typeface="Calibri"/>
              <a:sym typeface="Calibri"/>
            </a:endParaRPr>
          </a:p>
        </p:txBody>
      </p:sp>
      <p:sp>
        <p:nvSpPr>
          <p:cNvPr id="23" name="Google Shape;23;p3"/>
          <p:cNvSpPr/>
          <p:nvPr/>
        </p:nvSpPr>
        <p:spPr>
          <a:xfrm>
            <a:off x="457200" y="3584448"/>
            <a:ext cx="8229600"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07D8B"/>
              </a:buClr>
              <a:buSzPts val="1100"/>
              <a:buFont typeface="Calibri"/>
              <a:buNone/>
            </a:pPr>
            <a:r>
              <a:rPr lang="en-US" sz="1100" b="0" i="0" u="none" strike="noStrike" cap="none">
                <a:solidFill>
                  <a:srgbClr val="607D8B"/>
                </a:solidFill>
                <a:latin typeface="Calibri"/>
                <a:ea typeface="Calibri"/>
                <a:cs typeface="Calibri"/>
                <a:sym typeface="Calibri"/>
              </a:rPr>
              <a:t>Health Informatics Unit  |  Suwasiripaya, Colombo 10</a:t>
            </a:r>
            <a:endParaRPr sz="1100" b="0" i="0" u="none" strike="noStrike" cap="none">
              <a:solidFill>
                <a:schemeClr val="dk1"/>
              </a:solidFill>
              <a:latin typeface="Calibri"/>
              <a:ea typeface="Calibri"/>
              <a:cs typeface="Calibri"/>
              <a:sym typeface="Calibri"/>
            </a:endParaRPr>
          </a:p>
        </p:txBody>
      </p:sp>
      <p:sp>
        <p:nvSpPr>
          <p:cNvPr id="24" name="Google Shape;24;p3"/>
          <p:cNvSpPr/>
          <p:nvPr/>
        </p:nvSpPr>
        <p:spPr>
          <a:xfrm>
            <a:off x="0" y="4983480"/>
            <a:ext cx="9144000" cy="160020"/>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0" y="4983480"/>
            <a:ext cx="9144000" cy="1600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Ministry of Health Sri Lanka  |  Health Informatics Unit</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
        <p:cNvGrpSpPr/>
        <p:nvPr/>
      </p:nvGrpSpPr>
      <p:grpSpPr>
        <a:xfrm>
          <a:off x="0" y="0"/>
          <a:ext cx="0" cy="0"/>
          <a:chOff x="0" y="0"/>
          <a:chExt cx="0" cy="0"/>
        </a:xfrm>
      </p:grpSpPr>
      <p:sp>
        <p:nvSpPr>
          <p:cNvPr id="31" name="Google Shape;31;p4"/>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The Challenge With Physical Letter Management</a:t>
            </a:r>
            <a:endParaRPr sz="2600" b="0" i="0" u="none" strike="noStrike" cap="none">
              <a:solidFill>
                <a:schemeClr val="dk1"/>
              </a:solidFill>
              <a:latin typeface="Calibri"/>
              <a:ea typeface="Calibri"/>
              <a:cs typeface="Calibri"/>
              <a:sym typeface="Calibri"/>
            </a:endParaRPr>
          </a:p>
        </p:txBody>
      </p:sp>
      <p:sp>
        <p:nvSpPr>
          <p:cNvPr id="32" name="Google Shape;32;p4"/>
          <p:cNvSpPr/>
          <p:nvPr/>
        </p:nvSpPr>
        <p:spPr>
          <a:xfrm>
            <a:off x="365760" y="6583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34" name="Google Shape;34;p4"/>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2</a:t>
            </a:r>
            <a:endParaRPr sz="800" b="0" i="0" u="none" strike="noStrike" cap="none">
              <a:solidFill>
                <a:schemeClr val="dk1"/>
              </a:solidFill>
              <a:latin typeface="Calibri"/>
              <a:ea typeface="Calibri"/>
              <a:cs typeface="Calibri"/>
              <a:sym typeface="Calibri"/>
            </a:endParaRPr>
          </a:p>
        </p:txBody>
      </p:sp>
      <p:sp>
        <p:nvSpPr>
          <p:cNvPr id="35" name="Google Shape;35;p4"/>
          <p:cNvSpPr/>
          <p:nvPr/>
        </p:nvSpPr>
        <p:spPr>
          <a:xfrm>
            <a:off x="365760" y="1005840"/>
            <a:ext cx="4023360" cy="347472"/>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a:off x="411480" y="1042416"/>
            <a:ext cx="3931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Current Reality</a:t>
            </a:r>
            <a:endParaRPr sz="1300" b="0" i="0" u="none" strike="noStrike" cap="none">
              <a:solidFill>
                <a:schemeClr val="dk1"/>
              </a:solidFill>
              <a:latin typeface="Calibri"/>
              <a:ea typeface="Calibri"/>
              <a:cs typeface="Calibri"/>
              <a:sym typeface="Calibri"/>
            </a:endParaRPr>
          </a:p>
        </p:txBody>
      </p:sp>
      <p:sp>
        <p:nvSpPr>
          <p:cNvPr id="37" name="Google Shape;37;p4"/>
          <p:cNvSpPr/>
          <p:nvPr/>
        </p:nvSpPr>
        <p:spPr>
          <a:xfrm>
            <a:off x="365760" y="1353312"/>
            <a:ext cx="4023360" cy="475488"/>
          </a:xfrm>
          <a:prstGeom prst="rect">
            <a:avLst/>
          </a:prstGeom>
          <a:solidFill>
            <a:srgbClr val="ECEFF1"/>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365760" y="1353312"/>
            <a:ext cx="54864" cy="475488"/>
          </a:xfrm>
          <a:prstGeom prst="rect">
            <a:avLst/>
          </a:prstGeom>
          <a:solidFill>
            <a:srgbClr val="C62828"/>
          </a:solidFill>
          <a:ln w="12700" cap="flat" cmpd="sng">
            <a:solidFill>
              <a:srgbClr val="C6282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502920" y="1389888"/>
            <a:ext cx="374904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050"/>
              <a:buFont typeface="Calibri"/>
              <a:buNone/>
            </a:pPr>
            <a:r>
              <a:rPr lang="en-US" sz="1050" b="0" i="0" u="none" strike="noStrike" cap="none">
                <a:solidFill>
                  <a:srgbClr val="212121"/>
                </a:solidFill>
                <a:latin typeface="Calibri"/>
                <a:ea typeface="Calibri"/>
                <a:cs typeface="Calibri"/>
                <a:sym typeface="Calibri"/>
              </a:rPr>
              <a:t>Letters kept in physical registers — risk of loss, damage, or fire</a:t>
            </a:r>
            <a:endParaRPr sz="1050" b="0" i="0" u="none" strike="noStrike" cap="none">
              <a:solidFill>
                <a:schemeClr val="dk1"/>
              </a:solidFill>
              <a:latin typeface="Calibri"/>
              <a:ea typeface="Calibri"/>
              <a:cs typeface="Calibri"/>
              <a:sym typeface="Calibri"/>
            </a:endParaRPr>
          </a:p>
        </p:txBody>
      </p:sp>
      <p:sp>
        <p:nvSpPr>
          <p:cNvPr id="40" name="Google Shape;40;p4"/>
          <p:cNvSpPr/>
          <p:nvPr/>
        </p:nvSpPr>
        <p:spPr>
          <a:xfrm>
            <a:off x="365760" y="1883664"/>
            <a:ext cx="4023360" cy="475488"/>
          </a:xfrm>
          <a:prstGeom prst="rect">
            <a:avLst/>
          </a:prstGeom>
          <a:solidFill>
            <a:srgbClr val="ECEFF1"/>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365760" y="1883664"/>
            <a:ext cx="54864" cy="475488"/>
          </a:xfrm>
          <a:prstGeom prst="rect">
            <a:avLst/>
          </a:prstGeom>
          <a:solidFill>
            <a:srgbClr val="C62828"/>
          </a:solidFill>
          <a:ln w="12700" cap="flat" cmpd="sng">
            <a:solidFill>
              <a:srgbClr val="C6282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502920" y="1920240"/>
            <a:ext cx="374904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050"/>
              <a:buFont typeface="Calibri"/>
              <a:buNone/>
            </a:pPr>
            <a:r>
              <a:rPr lang="en-US" sz="1050" b="0" i="0" u="none" strike="noStrike" cap="none">
                <a:solidFill>
                  <a:srgbClr val="212121"/>
                </a:solidFill>
                <a:latin typeface="Calibri"/>
                <a:ea typeface="Calibri"/>
                <a:cs typeface="Calibri"/>
                <a:sym typeface="Calibri"/>
              </a:rPr>
              <a:t>No proof when a forwarded letter has been received</a:t>
            </a:r>
            <a:endParaRPr sz="1050" b="0" i="0" u="none" strike="noStrike" cap="none">
              <a:solidFill>
                <a:schemeClr val="dk1"/>
              </a:solidFill>
              <a:latin typeface="Calibri"/>
              <a:ea typeface="Calibri"/>
              <a:cs typeface="Calibri"/>
              <a:sym typeface="Calibri"/>
            </a:endParaRPr>
          </a:p>
        </p:txBody>
      </p:sp>
      <p:sp>
        <p:nvSpPr>
          <p:cNvPr id="43" name="Google Shape;43;p4"/>
          <p:cNvSpPr/>
          <p:nvPr/>
        </p:nvSpPr>
        <p:spPr>
          <a:xfrm>
            <a:off x="365760" y="2414016"/>
            <a:ext cx="4023360" cy="475488"/>
          </a:xfrm>
          <a:prstGeom prst="rect">
            <a:avLst/>
          </a:prstGeom>
          <a:solidFill>
            <a:srgbClr val="ECEFF1"/>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365760" y="2414016"/>
            <a:ext cx="54864" cy="475488"/>
          </a:xfrm>
          <a:prstGeom prst="rect">
            <a:avLst/>
          </a:prstGeom>
          <a:solidFill>
            <a:srgbClr val="C62828"/>
          </a:solidFill>
          <a:ln w="12700" cap="flat" cmpd="sng">
            <a:solidFill>
              <a:srgbClr val="C6282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a:off x="502920" y="2450592"/>
            <a:ext cx="374904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050"/>
              <a:buFont typeface="Calibri"/>
              <a:buNone/>
            </a:pPr>
            <a:r>
              <a:rPr lang="en-US" sz="1050" b="0" i="0" u="none" strike="noStrike" cap="none">
                <a:solidFill>
                  <a:srgbClr val="212121"/>
                </a:solidFill>
                <a:latin typeface="Calibri"/>
                <a:ea typeface="Calibri"/>
                <a:cs typeface="Calibri"/>
                <a:sym typeface="Calibri"/>
              </a:rPr>
              <a:t>No way to check if assigned staff have acted</a:t>
            </a:r>
            <a:endParaRPr sz="1050" b="0" i="0" u="none" strike="noStrike" cap="none">
              <a:solidFill>
                <a:schemeClr val="dk1"/>
              </a:solidFill>
              <a:latin typeface="Calibri"/>
              <a:ea typeface="Calibri"/>
              <a:cs typeface="Calibri"/>
              <a:sym typeface="Calibri"/>
            </a:endParaRPr>
          </a:p>
        </p:txBody>
      </p:sp>
      <p:sp>
        <p:nvSpPr>
          <p:cNvPr id="46" name="Google Shape;46;p4"/>
          <p:cNvSpPr/>
          <p:nvPr/>
        </p:nvSpPr>
        <p:spPr>
          <a:xfrm>
            <a:off x="365760" y="2944368"/>
            <a:ext cx="4023360" cy="475488"/>
          </a:xfrm>
          <a:prstGeom prst="rect">
            <a:avLst/>
          </a:prstGeom>
          <a:solidFill>
            <a:srgbClr val="ECEFF1"/>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365760" y="2944368"/>
            <a:ext cx="54864" cy="475488"/>
          </a:xfrm>
          <a:prstGeom prst="rect">
            <a:avLst/>
          </a:prstGeom>
          <a:solidFill>
            <a:srgbClr val="C62828"/>
          </a:solidFill>
          <a:ln w="12700" cap="flat" cmpd="sng">
            <a:solidFill>
              <a:srgbClr val="C6282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502920" y="2980944"/>
            <a:ext cx="374904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050"/>
              <a:buFont typeface="Calibri"/>
              <a:buNone/>
            </a:pPr>
            <a:r>
              <a:rPr lang="en-US" sz="1050" b="0" i="0" u="none" strike="noStrike" cap="none">
                <a:solidFill>
                  <a:srgbClr val="212121"/>
                </a:solidFill>
                <a:latin typeface="Calibri"/>
                <a:ea typeface="Calibri"/>
                <a:cs typeface="Calibri"/>
                <a:sym typeface="Calibri"/>
              </a:rPr>
              <a:t>Each unit maintains its own disconnected register</a:t>
            </a:r>
            <a:endParaRPr sz="1050" b="0" i="0" u="none" strike="noStrike" cap="none">
              <a:solidFill>
                <a:schemeClr val="dk1"/>
              </a:solidFill>
              <a:latin typeface="Calibri"/>
              <a:ea typeface="Calibri"/>
              <a:cs typeface="Calibri"/>
              <a:sym typeface="Calibri"/>
            </a:endParaRPr>
          </a:p>
        </p:txBody>
      </p:sp>
      <p:sp>
        <p:nvSpPr>
          <p:cNvPr id="49" name="Google Shape;49;p4"/>
          <p:cNvSpPr/>
          <p:nvPr/>
        </p:nvSpPr>
        <p:spPr>
          <a:xfrm>
            <a:off x="365760" y="3474720"/>
            <a:ext cx="4023360" cy="475488"/>
          </a:xfrm>
          <a:prstGeom prst="rect">
            <a:avLst/>
          </a:prstGeom>
          <a:solidFill>
            <a:srgbClr val="ECEFF1"/>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365760" y="3474720"/>
            <a:ext cx="54864" cy="475488"/>
          </a:xfrm>
          <a:prstGeom prst="rect">
            <a:avLst/>
          </a:prstGeom>
          <a:solidFill>
            <a:srgbClr val="C62828"/>
          </a:solidFill>
          <a:ln w="12700" cap="flat" cmpd="sng">
            <a:solidFill>
              <a:srgbClr val="C6282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502920" y="3511296"/>
            <a:ext cx="374904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050"/>
              <a:buFont typeface="Calibri"/>
              <a:buNone/>
            </a:pPr>
            <a:r>
              <a:rPr lang="en-US" sz="1050" b="0" i="0" u="none" strike="noStrike" cap="none">
                <a:solidFill>
                  <a:srgbClr val="212121"/>
                </a:solidFill>
                <a:latin typeface="Calibri"/>
                <a:ea typeface="Calibri"/>
                <a:cs typeface="Calibri"/>
                <a:sym typeface="Calibri"/>
              </a:rPr>
              <a:t>Searching past letters takes hours or days</a:t>
            </a:r>
            <a:endParaRPr sz="1050" b="0" i="0" u="none" strike="noStrike" cap="none">
              <a:solidFill>
                <a:schemeClr val="dk1"/>
              </a:solidFill>
              <a:latin typeface="Calibri"/>
              <a:ea typeface="Calibri"/>
              <a:cs typeface="Calibri"/>
              <a:sym typeface="Calibri"/>
            </a:endParaRPr>
          </a:p>
        </p:txBody>
      </p:sp>
      <p:sp>
        <p:nvSpPr>
          <p:cNvPr id="52" name="Google Shape;52;p4"/>
          <p:cNvSpPr/>
          <p:nvPr/>
        </p:nvSpPr>
        <p:spPr>
          <a:xfrm>
            <a:off x="4754880" y="1005840"/>
            <a:ext cx="4023360" cy="347472"/>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4800600" y="1042416"/>
            <a:ext cx="3931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The Consequences</a:t>
            </a:r>
            <a:endParaRPr sz="1300" b="0" i="0" u="none" strike="noStrike" cap="none">
              <a:solidFill>
                <a:schemeClr val="dk1"/>
              </a:solidFill>
              <a:latin typeface="Calibri"/>
              <a:ea typeface="Calibri"/>
              <a:cs typeface="Calibri"/>
              <a:sym typeface="Calibri"/>
            </a:endParaRPr>
          </a:p>
        </p:txBody>
      </p:sp>
      <p:sp>
        <p:nvSpPr>
          <p:cNvPr id="54" name="Google Shape;54;p4"/>
          <p:cNvSpPr/>
          <p:nvPr/>
        </p:nvSpPr>
        <p:spPr>
          <a:xfrm>
            <a:off x="4754880" y="1353312"/>
            <a:ext cx="4023360" cy="475488"/>
          </a:xfrm>
          <a:prstGeom prst="rect">
            <a:avLst/>
          </a:prstGeom>
          <a:solidFill>
            <a:srgbClr val="ECEFF1"/>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a:off x="4754880" y="1353312"/>
            <a:ext cx="54864" cy="475488"/>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a:off x="4892040" y="1389888"/>
            <a:ext cx="374904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050"/>
              <a:buFont typeface="Calibri"/>
              <a:buNone/>
            </a:pPr>
            <a:r>
              <a:rPr lang="en-US" sz="1050" b="0" i="0" u="none" strike="noStrike" cap="none">
                <a:solidFill>
                  <a:srgbClr val="212121"/>
                </a:solidFill>
                <a:latin typeface="Calibri"/>
                <a:ea typeface="Calibri"/>
                <a:cs typeface="Calibri"/>
                <a:sym typeface="Calibri"/>
              </a:rPr>
              <a:t>Accountability gaps when instructions are not acted upon</a:t>
            </a:r>
            <a:endParaRPr sz="1050" b="0" i="0" u="none" strike="noStrike" cap="none">
              <a:solidFill>
                <a:schemeClr val="dk1"/>
              </a:solidFill>
              <a:latin typeface="Calibri"/>
              <a:ea typeface="Calibri"/>
              <a:cs typeface="Calibri"/>
              <a:sym typeface="Calibri"/>
            </a:endParaRPr>
          </a:p>
        </p:txBody>
      </p:sp>
      <p:sp>
        <p:nvSpPr>
          <p:cNvPr id="57" name="Google Shape;57;p4"/>
          <p:cNvSpPr/>
          <p:nvPr/>
        </p:nvSpPr>
        <p:spPr>
          <a:xfrm>
            <a:off x="4754880" y="1883664"/>
            <a:ext cx="4023360" cy="475488"/>
          </a:xfrm>
          <a:prstGeom prst="rect">
            <a:avLst/>
          </a:prstGeom>
          <a:solidFill>
            <a:srgbClr val="ECEFF1"/>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4754880" y="1883664"/>
            <a:ext cx="54864" cy="475488"/>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4892040" y="1920240"/>
            <a:ext cx="374904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050"/>
              <a:buFont typeface="Calibri"/>
              <a:buNone/>
            </a:pPr>
            <a:r>
              <a:rPr lang="en-US" sz="1050" b="0" i="0" u="none" strike="noStrike" cap="none">
                <a:solidFill>
                  <a:srgbClr val="212121"/>
                </a:solidFill>
                <a:latin typeface="Calibri"/>
                <a:ea typeface="Calibri"/>
                <a:cs typeface="Calibri"/>
                <a:sym typeface="Calibri"/>
              </a:rPr>
              <a:t>Delays when letters are lost or misrouted</a:t>
            </a:r>
            <a:endParaRPr sz="1050" b="0" i="0" u="none" strike="noStrike" cap="none">
              <a:solidFill>
                <a:schemeClr val="dk1"/>
              </a:solidFill>
              <a:latin typeface="Calibri"/>
              <a:ea typeface="Calibri"/>
              <a:cs typeface="Calibri"/>
              <a:sym typeface="Calibri"/>
            </a:endParaRPr>
          </a:p>
        </p:txBody>
      </p:sp>
      <p:sp>
        <p:nvSpPr>
          <p:cNvPr id="60" name="Google Shape;60;p4"/>
          <p:cNvSpPr/>
          <p:nvPr/>
        </p:nvSpPr>
        <p:spPr>
          <a:xfrm>
            <a:off x="4754880" y="2414016"/>
            <a:ext cx="4023360" cy="475488"/>
          </a:xfrm>
          <a:prstGeom prst="rect">
            <a:avLst/>
          </a:prstGeom>
          <a:solidFill>
            <a:srgbClr val="ECEFF1"/>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4754880" y="2414016"/>
            <a:ext cx="54864" cy="475488"/>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4892040" y="2450592"/>
            <a:ext cx="374904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050"/>
              <a:buFont typeface="Calibri"/>
              <a:buNone/>
            </a:pPr>
            <a:r>
              <a:rPr lang="en-US" sz="1050" b="0" i="0" u="none" strike="noStrike" cap="none">
                <a:solidFill>
                  <a:srgbClr val="212121"/>
                </a:solidFill>
                <a:latin typeface="Calibri"/>
                <a:ea typeface="Calibri"/>
                <a:cs typeface="Calibri"/>
                <a:sym typeface="Calibri"/>
              </a:rPr>
              <a:t>Duplication of effort across directorates</a:t>
            </a:r>
            <a:endParaRPr sz="1050" b="0" i="0" u="none" strike="noStrike" cap="none">
              <a:solidFill>
                <a:schemeClr val="dk1"/>
              </a:solidFill>
              <a:latin typeface="Calibri"/>
              <a:ea typeface="Calibri"/>
              <a:cs typeface="Calibri"/>
              <a:sym typeface="Calibri"/>
            </a:endParaRPr>
          </a:p>
        </p:txBody>
      </p:sp>
      <p:sp>
        <p:nvSpPr>
          <p:cNvPr id="63" name="Google Shape;63;p4"/>
          <p:cNvSpPr/>
          <p:nvPr/>
        </p:nvSpPr>
        <p:spPr>
          <a:xfrm>
            <a:off x="4754880" y="2944368"/>
            <a:ext cx="4023360" cy="475488"/>
          </a:xfrm>
          <a:prstGeom prst="rect">
            <a:avLst/>
          </a:prstGeom>
          <a:solidFill>
            <a:srgbClr val="ECEFF1"/>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4754880" y="2944368"/>
            <a:ext cx="54864" cy="475488"/>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4892040" y="2980944"/>
            <a:ext cx="374904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050"/>
              <a:buFont typeface="Calibri"/>
              <a:buNone/>
            </a:pPr>
            <a:r>
              <a:rPr lang="en-US" sz="1050" b="0" i="0" u="none" strike="noStrike" cap="none">
                <a:solidFill>
                  <a:srgbClr val="212121"/>
                </a:solidFill>
                <a:latin typeface="Calibri"/>
                <a:ea typeface="Calibri"/>
                <a:cs typeface="Calibri"/>
                <a:sym typeface="Calibri"/>
              </a:rPr>
              <a:t>No audit trail for official correspondence</a:t>
            </a:r>
            <a:endParaRPr sz="1050" b="0" i="0" u="none" strike="noStrike" cap="none">
              <a:solidFill>
                <a:schemeClr val="dk1"/>
              </a:solidFill>
              <a:latin typeface="Calibri"/>
              <a:ea typeface="Calibri"/>
              <a:cs typeface="Calibri"/>
              <a:sym typeface="Calibri"/>
            </a:endParaRPr>
          </a:p>
        </p:txBody>
      </p:sp>
      <p:sp>
        <p:nvSpPr>
          <p:cNvPr id="66" name="Google Shape;66;p4"/>
          <p:cNvSpPr/>
          <p:nvPr/>
        </p:nvSpPr>
        <p:spPr>
          <a:xfrm>
            <a:off x="4754880" y="3474720"/>
            <a:ext cx="4023360" cy="475488"/>
          </a:xfrm>
          <a:prstGeom prst="rect">
            <a:avLst/>
          </a:prstGeom>
          <a:solidFill>
            <a:srgbClr val="ECEFF1"/>
          </a:solidFill>
          <a:ln w="9525"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4754880" y="3474720"/>
            <a:ext cx="54864" cy="475488"/>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a:off x="4892040" y="3511296"/>
            <a:ext cx="374904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050"/>
              <a:buFont typeface="Calibri"/>
              <a:buNone/>
            </a:pPr>
            <a:r>
              <a:rPr lang="en-US" sz="1050" b="0" i="0" u="none" strike="noStrike" cap="none">
                <a:solidFill>
                  <a:srgbClr val="212121"/>
                </a:solidFill>
                <a:latin typeface="Calibri"/>
                <a:ea typeface="Calibri"/>
                <a:cs typeface="Calibri"/>
                <a:sym typeface="Calibri"/>
              </a:rPr>
              <a:t>No national view of ministry-wide correspondence</a:t>
            </a:r>
            <a:endParaRPr sz="1050" b="0" i="0" u="none" strike="noStrike" cap="none">
              <a:solidFill>
                <a:schemeClr val="dk1"/>
              </a:solidFill>
              <a:latin typeface="Calibri"/>
              <a:ea typeface="Calibri"/>
              <a:cs typeface="Calibri"/>
              <a:sym typeface="Calibri"/>
            </a:endParaRPr>
          </a:p>
        </p:txBody>
      </p:sp>
      <p:sp>
        <p:nvSpPr>
          <p:cNvPr id="69" name="Google Shape;69;p4"/>
          <p:cNvSpPr/>
          <p:nvPr/>
        </p:nvSpPr>
        <p:spPr>
          <a:xfrm>
            <a:off x="365760" y="4498848"/>
            <a:ext cx="8412480" cy="347472"/>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365760" y="4498848"/>
            <a:ext cx="841248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A national digital solution already exists — built by HIU — and it is free to use.</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
        <p:cNvGrpSpPr/>
        <p:nvPr/>
      </p:nvGrpSpPr>
      <p:grpSpPr>
        <a:xfrm>
          <a:off x="0" y="0"/>
          <a:ext cx="0" cy="0"/>
          <a:chOff x="0" y="0"/>
          <a:chExt cx="0" cy="0"/>
        </a:xfrm>
      </p:grpSpPr>
      <p:sp>
        <p:nvSpPr>
          <p:cNvPr id="76" name="Google Shape;76;p5"/>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What Is DMIS?</a:t>
            </a:r>
            <a:endParaRPr sz="2600" b="0" i="0" u="none" strike="noStrike" cap="none">
              <a:solidFill>
                <a:schemeClr val="dk1"/>
              </a:solidFill>
              <a:latin typeface="Calibri"/>
              <a:ea typeface="Calibri"/>
              <a:cs typeface="Calibri"/>
              <a:sym typeface="Calibri"/>
            </a:endParaRPr>
          </a:p>
        </p:txBody>
      </p:sp>
      <p:sp>
        <p:nvSpPr>
          <p:cNvPr id="77" name="Google Shape;77;p5"/>
          <p:cNvSpPr/>
          <p:nvPr/>
        </p:nvSpPr>
        <p:spPr>
          <a:xfrm>
            <a:off x="365760" y="658368"/>
            <a:ext cx="8412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57575"/>
              </a:buClr>
              <a:buSzPts val="1300"/>
              <a:buFont typeface="Calibri"/>
              <a:buNone/>
            </a:pPr>
            <a:r>
              <a:rPr lang="en-US" sz="1300" b="0" i="0" u="none" strike="noStrike" cap="none">
                <a:solidFill>
                  <a:srgbClr val="757575"/>
                </a:solidFill>
                <a:latin typeface="Calibri"/>
                <a:ea typeface="Calibri"/>
                <a:cs typeface="Calibri"/>
                <a:sym typeface="Calibri"/>
              </a:rPr>
              <a:t>A web-based document management system built for Sri Lanka's health administration</a:t>
            </a:r>
            <a:endParaRPr sz="1300" b="0" i="0" u="none" strike="noStrike" cap="none">
              <a:solidFill>
                <a:schemeClr val="dk1"/>
              </a:solidFill>
              <a:latin typeface="Calibri"/>
              <a:ea typeface="Calibri"/>
              <a:cs typeface="Calibri"/>
              <a:sym typeface="Calibri"/>
            </a:endParaRPr>
          </a:p>
        </p:txBody>
      </p:sp>
      <p:sp>
        <p:nvSpPr>
          <p:cNvPr id="78" name="Google Shape;78;p5"/>
          <p:cNvSpPr/>
          <p:nvPr/>
        </p:nvSpPr>
        <p:spPr>
          <a:xfrm>
            <a:off x="365760" y="8869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80" name="Google Shape;80;p5"/>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3</a:t>
            </a:r>
            <a:endParaRPr sz="800" b="0" i="0" u="none" strike="noStrike" cap="none">
              <a:solidFill>
                <a:schemeClr val="dk1"/>
              </a:solidFill>
              <a:latin typeface="Calibri"/>
              <a:ea typeface="Calibri"/>
              <a:cs typeface="Calibri"/>
              <a:sym typeface="Calibri"/>
            </a:endParaRPr>
          </a:p>
        </p:txBody>
      </p:sp>
      <p:sp>
        <p:nvSpPr>
          <p:cNvPr id="81" name="Google Shape;81;p5"/>
          <p:cNvSpPr/>
          <p:nvPr/>
        </p:nvSpPr>
        <p:spPr>
          <a:xfrm>
            <a:off x="365760" y="1024128"/>
            <a:ext cx="2651760" cy="1353312"/>
          </a:xfrm>
          <a:prstGeom prst="rect">
            <a:avLst/>
          </a:prstGeom>
          <a:solidFill>
            <a:srgbClr val="1A237E"/>
          </a:solidFill>
          <a:ln w="12700" cap="flat" cmpd="sng">
            <a:solidFill>
              <a:srgbClr val="1A237E"/>
            </a:solidFill>
            <a:prstDash val="solid"/>
            <a:round/>
            <a:headEnd type="none" w="sm" len="sm"/>
            <a:tailEnd type="none" w="sm" len="sm"/>
          </a:ln>
          <a:effectLst>
            <a:outerShdw blurRad="635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2" name="Google Shape;82;p5" descr="preencoded.png"/>
          <p:cNvPicPr preferRelativeResize="0"/>
          <p:nvPr/>
        </p:nvPicPr>
        <p:blipFill rotWithShape="1">
          <a:blip r:embed="rId3">
            <a:alphaModFix/>
          </a:blip>
          <a:srcRect/>
          <a:stretch/>
        </p:blipFill>
        <p:spPr>
          <a:xfrm>
            <a:off x="502920" y="1133856"/>
            <a:ext cx="320040" cy="320040"/>
          </a:xfrm>
          <a:prstGeom prst="rect">
            <a:avLst/>
          </a:prstGeom>
          <a:noFill/>
          <a:ln>
            <a:noFill/>
          </a:ln>
        </p:spPr>
      </p:pic>
      <p:sp>
        <p:nvSpPr>
          <p:cNvPr id="83" name="Google Shape;83;p5"/>
          <p:cNvSpPr/>
          <p:nvPr/>
        </p:nvSpPr>
        <p:spPr>
          <a:xfrm>
            <a:off x="868680" y="1133856"/>
            <a:ext cx="2057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Letter Recording</a:t>
            </a:r>
            <a:endParaRPr sz="1200" b="0" i="0" u="none" strike="noStrike" cap="none">
              <a:solidFill>
                <a:schemeClr val="dk1"/>
              </a:solidFill>
              <a:latin typeface="Calibri"/>
              <a:ea typeface="Calibri"/>
              <a:cs typeface="Calibri"/>
              <a:sym typeface="Calibri"/>
            </a:endParaRPr>
          </a:p>
        </p:txBody>
      </p:sp>
      <p:sp>
        <p:nvSpPr>
          <p:cNvPr id="84" name="Google Shape;84;p5"/>
          <p:cNvSpPr/>
          <p:nvPr/>
        </p:nvSpPr>
        <p:spPr>
          <a:xfrm>
            <a:off x="475488" y="1499616"/>
            <a:ext cx="2432304" cy="7863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Record every letter — by post, email, fax, or hand. Attach date, reference number, sender, and topic.</a:t>
            </a:r>
            <a:endParaRPr sz="1000" b="0" i="0" u="none" strike="noStrike" cap="none">
              <a:solidFill>
                <a:schemeClr val="dk1"/>
              </a:solidFill>
              <a:latin typeface="Calibri"/>
              <a:ea typeface="Calibri"/>
              <a:cs typeface="Calibri"/>
              <a:sym typeface="Calibri"/>
            </a:endParaRPr>
          </a:p>
        </p:txBody>
      </p:sp>
      <p:sp>
        <p:nvSpPr>
          <p:cNvPr id="85" name="Google Shape;85;p5"/>
          <p:cNvSpPr/>
          <p:nvPr/>
        </p:nvSpPr>
        <p:spPr>
          <a:xfrm>
            <a:off x="3218688" y="1024128"/>
            <a:ext cx="2651760" cy="1353312"/>
          </a:xfrm>
          <a:prstGeom prst="rect">
            <a:avLst/>
          </a:prstGeom>
          <a:solidFill>
            <a:srgbClr val="00838F"/>
          </a:solidFill>
          <a:ln w="12700" cap="flat" cmpd="sng">
            <a:solidFill>
              <a:srgbClr val="00838F"/>
            </a:solidFill>
            <a:prstDash val="solid"/>
            <a:round/>
            <a:headEnd type="none" w="sm" len="sm"/>
            <a:tailEnd type="none" w="sm" len="sm"/>
          </a:ln>
          <a:effectLst>
            <a:outerShdw blurRad="635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6" name="Google Shape;86;p5" descr="preencoded.png"/>
          <p:cNvPicPr preferRelativeResize="0"/>
          <p:nvPr/>
        </p:nvPicPr>
        <p:blipFill rotWithShape="1">
          <a:blip r:embed="rId4">
            <a:alphaModFix/>
          </a:blip>
          <a:srcRect/>
          <a:stretch/>
        </p:blipFill>
        <p:spPr>
          <a:xfrm>
            <a:off x="3355848" y="1133856"/>
            <a:ext cx="320040" cy="320040"/>
          </a:xfrm>
          <a:prstGeom prst="rect">
            <a:avLst/>
          </a:prstGeom>
          <a:noFill/>
          <a:ln>
            <a:noFill/>
          </a:ln>
        </p:spPr>
      </p:pic>
      <p:sp>
        <p:nvSpPr>
          <p:cNvPr id="87" name="Google Shape;87;p5"/>
          <p:cNvSpPr/>
          <p:nvPr/>
        </p:nvSpPr>
        <p:spPr>
          <a:xfrm>
            <a:off x="3721608" y="1133856"/>
            <a:ext cx="2057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dirty="0">
                <a:solidFill>
                  <a:srgbClr val="FFFFFF"/>
                </a:solidFill>
                <a:latin typeface="Calibri"/>
                <a:ea typeface="Calibri"/>
                <a:cs typeface="Calibri"/>
                <a:sym typeface="Calibri"/>
              </a:rPr>
              <a:t>Forward / Copy</a:t>
            </a:r>
            <a:endParaRPr sz="1200" b="0" i="0" u="none" strike="noStrike" cap="none" dirty="0">
              <a:solidFill>
                <a:schemeClr val="dk1"/>
              </a:solidFill>
              <a:latin typeface="Calibri"/>
              <a:ea typeface="Calibri"/>
              <a:cs typeface="Calibri"/>
              <a:sym typeface="Calibri"/>
            </a:endParaRPr>
          </a:p>
        </p:txBody>
      </p:sp>
      <p:sp>
        <p:nvSpPr>
          <p:cNvPr id="88" name="Google Shape;88;p5"/>
          <p:cNvSpPr/>
          <p:nvPr/>
        </p:nvSpPr>
        <p:spPr>
          <a:xfrm>
            <a:off x="3328416" y="1499616"/>
            <a:ext cx="2432304" cy="7863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Forward letters digitally to any enrolled unit. Receiving unit must acknowledge receipt — tracked live.</a:t>
            </a:r>
            <a:endParaRPr sz="1000" b="0" i="0" u="none" strike="noStrike" cap="none">
              <a:solidFill>
                <a:schemeClr val="dk1"/>
              </a:solidFill>
              <a:latin typeface="Calibri"/>
              <a:ea typeface="Calibri"/>
              <a:cs typeface="Calibri"/>
              <a:sym typeface="Calibri"/>
            </a:endParaRPr>
          </a:p>
        </p:txBody>
      </p:sp>
      <p:sp>
        <p:nvSpPr>
          <p:cNvPr id="89" name="Google Shape;89;p5"/>
          <p:cNvSpPr/>
          <p:nvPr/>
        </p:nvSpPr>
        <p:spPr>
          <a:xfrm>
            <a:off x="6071616" y="1024128"/>
            <a:ext cx="2651760" cy="1353312"/>
          </a:xfrm>
          <a:prstGeom prst="rect">
            <a:avLst/>
          </a:prstGeom>
          <a:solidFill>
            <a:srgbClr val="2E7D32"/>
          </a:solidFill>
          <a:ln w="12700" cap="flat" cmpd="sng">
            <a:solidFill>
              <a:srgbClr val="2E7D32"/>
            </a:solidFill>
            <a:prstDash val="solid"/>
            <a:round/>
            <a:headEnd type="none" w="sm" len="sm"/>
            <a:tailEnd type="none" w="sm" len="sm"/>
          </a:ln>
          <a:effectLst>
            <a:outerShdw blurRad="635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0" name="Google Shape;90;p5" descr="preencoded.png"/>
          <p:cNvPicPr preferRelativeResize="0"/>
          <p:nvPr/>
        </p:nvPicPr>
        <p:blipFill rotWithShape="1">
          <a:blip r:embed="rId5">
            <a:alphaModFix/>
          </a:blip>
          <a:srcRect/>
          <a:stretch/>
        </p:blipFill>
        <p:spPr>
          <a:xfrm>
            <a:off x="6208776" y="1133856"/>
            <a:ext cx="320040" cy="320040"/>
          </a:xfrm>
          <a:prstGeom prst="rect">
            <a:avLst/>
          </a:prstGeom>
          <a:noFill/>
          <a:ln>
            <a:noFill/>
          </a:ln>
        </p:spPr>
      </p:pic>
      <p:sp>
        <p:nvSpPr>
          <p:cNvPr id="91" name="Google Shape;91;p5"/>
          <p:cNvSpPr/>
          <p:nvPr/>
        </p:nvSpPr>
        <p:spPr>
          <a:xfrm>
            <a:off x="6574536" y="1133856"/>
            <a:ext cx="2057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Staff Assignment</a:t>
            </a:r>
            <a:endParaRPr sz="1200" b="0" i="0" u="none" strike="noStrike" cap="none">
              <a:solidFill>
                <a:schemeClr val="dk1"/>
              </a:solidFill>
              <a:latin typeface="Calibri"/>
              <a:ea typeface="Calibri"/>
              <a:cs typeface="Calibri"/>
              <a:sym typeface="Calibri"/>
            </a:endParaRPr>
          </a:p>
        </p:txBody>
      </p:sp>
      <p:sp>
        <p:nvSpPr>
          <p:cNvPr id="92" name="Google Shape;92;p5"/>
          <p:cNvSpPr/>
          <p:nvPr/>
        </p:nvSpPr>
        <p:spPr>
          <a:xfrm>
            <a:off x="6181344" y="1499616"/>
            <a:ext cx="2432304" cy="7863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Assign letters to specific staff. They formally accept and record the action taken. Full accountability.</a:t>
            </a:r>
            <a:endParaRPr sz="1000" b="0" i="0" u="none" strike="noStrike" cap="none">
              <a:solidFill>
                <a:schemeClr val="dk1"/>
              </a:solidFill>
              <a:latin typeface="Calibri"/>
              <a:ea typeface="Calibri"/>
              <a:cs typeface="Calibri"/>
              <a:sym typeface="Calibri"/>
            </a:endParaRPr>
          </a:p>
        </p:txBody>
      </p:sp>
      <p:sp>
        <p:nvSpPr>
          <p:cNvPr id="93" name="Google Shape;93;p5"/>
          <p:cNvSpPr/>
          <p:nvPr/>
        </p:nvSpPr>
        <p:spPr>
          <a:xfrm>
            <a:off x="365760" y="2542032"/>
            <a:ext cx="2651760" cy="1353312"/>
          </a:xfrm>
          <a:prstGeom prst="rect">
            <a:avLst/>
          </a:prstGeom>
          <a:solidFill>
            <a:srgbClr val="1A237E"/>
          </a:solidFill>
          <a:ln w="12700" cap="flat" cmpd="sng">
            <a:solidFill>
              <a:srgbClr val="1A237E"/>
            </a:solidFill>
            <a:prstDash val="solid"/>
            <a:round/>
            <a:headEnd type="none" w="sm" len="sm"/>
            <a:tailEnd type="none" w="sm" len="sm"/>
          </a:ln>
          <a:effectLst>
            <a:outerShdw blurRad="635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4" name="Google Shape;94;p5" descr="preencoded.png"/>
          <p:cNvPicPr preferRelativeResize="0"/>
          <p:nvPr/>
        </p:nvPicPr>
        <p:blipFill rotWithShape="1">
          <a:blip r:embed="rId6">
            <a:alphaModFix/>
          </a:blip>
          <a:srcRect/>
          <a:stretch/>
        </p:blipFill>
        <p:spPr>
          <a:xfrm>
            <a:off x="502920" y="2651760"/>
            <a:ext cx="320040" cy="320040"/>
          </a:xfrm>
          <a:prstGeom prst="rect">
            <a:avLst/>
          </a:prstGeom>
          <a:noFill/>
          <a:ln>
            <a:noFill/>
          </a:ln>
        </p:spPr>
      </p:pic>
      <p:sp>
        <p:nvSpPr>
          <p:cNvPr id="95" name="Google Shape;95;p5"/>
          <p:cNvSpPr/>
          <p:nvPr/>
        </p:nvSpPr>
        <p:spPr>
          <a:xfrm>
            <a:off x="868680" y="2651760"/>
            <a:ext cx="2057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Powerful Search</a:t>
            </a:r>
            <a:endParaRPr sz="1200" b="0" i="0" u="none" strike="noStrike" cap="none">
              <a:solidFill>
                <a:schemeClr val="dk1"/>
              </a:solidFill>
              <a:latin typeface="Calibri"/>
              <a:ea typeface="Calibri"/>
              <a:cs typeface="Calibri"/>
              <a:sym typeface="Calibri"/>
            </a:endParaRPr>
          </a:p>
        </p:txBody>
      </p:sp>
      <p:sp>
        <p:nvSpPr>
          <p:cNvPr id="96" name="Google Shape;96;p5"/>
          <p:cNvSpPr/>
          <p:nvPr/>
        </p:nvSpPr>
        <p:spPr>
          <a:xfrm>
            <a:off x="475488" y="3017520"/>
            <a:ext cx="2432304" cy="7863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Search by date, sender, reference number, language, or keyword. Results in seconds.</a:t>
            </a:r>
            <a:endParaRPr sz="1000" b="0" i="0" u="none" strike="noStrike" cap="none">
              <a:solidFill>
                <a:schemeClr val="dk1"/>
              </a:solidFill>
              <a:latin typeface="Calibri"/>
              <a:ea typeface="Calibri"/>
              <a:cs typeface="Calibri"/>
              <a:sym typeface="Calibri"/>
            </a:endParaRPr>
          </a:p>
        </p:txBody>
      </p:sp>
      <p:sp>
        <p:nvSpPr>
          <p:cNvPr id="97" name="Google Shape;97;p5"/>
          <p:cNvSpPr/>
          <p:nvPr/>
        </p:nvSpPr>
        <p:spPr>
          <a:xfrm>
            <a:off x="3218688" y="2542032"/>
            <a:ext cx="2651760" cy="1353312"/>
          </a:xfrm>
          <a:prstGeom prst="rect">
            <a:avLst/>
          </a:prstGeom>
          <a:solidFill>
            <a:srgbClr val="00838F"/>
          </a:solidFill>
          <a:ln w="12700" cap="flat" cmpd="sng">
            <a:solidFill>
              <a:srgbClr val="00838F"/>
            </a:solidFill>
            <a:prstDash val="solid"/>
            <a:round/>
            <a:headEnd type="none" w="sm" len="sm"/>
            <a:tailEnd type="none" w="sm" len="sm"/>
          </a:ln>
          <a:effectLst>
            <a:outerShdw blurRad="635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8" name="Google Shape;98;p5" descr="preencoded.png"/>
          <p:cNvPicPr preferRelativeResize="0"/>
          <p:nvPr/>
        </p:nvPicPr>
        <p:blipFill rotWithShape="1">
          <a:blip r:embed="rId7">
            <a:alphaModFix/>
          </a:blip>
          <a:srcRect/>
          <a:stretch/>
        </p:blipFill>
        <p:spPr>
          <a:xfrm>
            <a:off x="3355848" y="2651760"/>
            <a:ext cx="320040" cy="320040"/>
          </a:xfrm>
          <a:prstGeom prst="rect">
            <a:avLst/>
          </a:prstGeom>
          <a:noFill/>
          <a:ln>
            <a:noFill/>
          </a:ln>
        </p:spPr>
      </p:pic>
      <p:sp>
        <p:nvSpPr>
          <p:cNvPr id="99" name="Google Shape;99;p5"/>
          <p:cNvSpPr/>
          <p:nvPr/>
        </p:nvSpPr>
        <p:spPr>
          <a:xfrm>
            <a:off x="3721608" y="2651760"/>
            <a:ext cx="2057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Live Dashboards</a:t>
            </a:r>
            <a:endParaRPr sz="1200" b="0" i="0" u="none" strike="noStrike" cap="none">
              <a:solidFill>
                <a:schemeClr val="dk1"/>
              </a:solidFill>
              <a:latin typeface="Calibri"/>
              <a:ea typeface="Calibri"/>
              <a:cs typeface="Calibri"/>
              <a:sym typeface="Calibri"/>
            </a:endParaRPr>
          </a:p>
        </p:txBody>
      </p:sp>
      <p:sp>
        <p:nvSpPr>
          <p:cNvPr id="100" name="Google Shape;100;p5"/>
          <p:cNvSpPr/>
          <p:nvPr/>
        </p:nvSpPr>
        <p:spPr>
          <a:xfrm>
            <a:off x="3328416" y="3017520"/>
            <a:ext cx="2432304" cy="7863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Institutional and national dashboards show real-time status of all correspondence.</a:t>
            </a:r>
            <a:endParaRPr sz="1000" b="0" i="0" u="none" strike="noStrike" cap="none">
              <a:solidFill>
                <a:schemeClr val="dk1"/>
              </a:solidFill>
              <a:latin typeface="Calibri"/>
              <a:ea typeface="Calibri"/>
              <a:cs typeface="Calibri"/>
              <a:sym typeface="Calibri"/>
            </a:endParaRPr>
          </a:p>
        </p:txBody>
      </p:sp>
      <p:sp>
        <p:nvSpPr>
          <p:cNvPr id="101" name="Google Shape;101;p5"/>
          <p:cNvSpPr/>
          <p:nvPr/>
        </p:nvSpPr>
        <p:spPr>
          <a:xfrm>
            <a:off x="6071616" y="2542032"/>
            <a:ext cx="2651760" cy="1353312"/>
          </a:xfrm>
          <a:prstGeom prst="rect">
            <a:avLst/>
          </a:prstGeom>
          <a:solidFill>
            <a:srgbClr val="455A64"/>
          </a:solidFill>
          <a:ln w="12700" cap="flat" cmpd="sng">
            <a:solidFill>
              <a:srgbClr val="455A64"/>
            </a:solidFill>
            <a:prstDash val="solid"/>
            <a:round/>
            <a:headEnd type="none" w="sm" len="sm"/>
            <a:tailEnd type="none" w="sm" len="sm"/>
          </a:ln>
          <a:effectLst>
            <a:outerShdw blurRad="635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 name="Google Shape;102;p5" descr="preencoded.png"/>
          <p:cNvPicPr preferRelativeResize="0"/>
          <p:nvPr/>
        </p:nvPicPr>
        <p:blipFill rotWithShape="1">
          <a:blip r:embed="rId8">
            <a:alphaModFix/>
          </a:blip>
          <a:srcRect/>
          <a:stretch/>
        </p:blipFill>
        <p:spPr>
          <a:xfrm>
            <a:off x="6208776" y="2651760"/>
            <a:ext cx="320040" cy="320040"/>
          </a:xfrm>
          <a:prstGeom prst="rect">
            <a:avLst/>
          </a:prstGeom>
          <a:noFill/>
          <a:ln>
            <a:noFill/>
          </a:ln>
        </p:spPr>
      </p:pic>
      <p:sp>
        <p:nvSpPr>
          <p:cNvPr id="103" name="Google Shape;103;p5"/>
          <p:cNvSpPr/>
          <p:nvPr/>
        </p:nvSpPr>
        <p:spPr>
          <a:xfrm>
            <a:off x="6574536" y="2651760"/>
            <a:ext cx="20574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Complete Audit Trail</a:t>
            </a:r>
            <a:endParaRPr sz="1200" b="0" i="0" u="none" strike="noStrike" cap="none">
              <a:solidFill>
                <a:schemeClr val="dk1"/>
              </a:solidFill>
              <a:latin typeface="Calibri"/>
              <a:ea typeface="Calibri"/>
              <a:cs typeface="Calibri"/>
              <a:sym typeface="Calibri"/>
            </a:endParaRPr>
          </a:p>
        </p:txBody>
      </p:sp>
      <p:sp>
        <p:nvSpPr>
          <p:cNvPr id="104" name="Google Shape;104;p5"/>
          <p:cNvSpPr/>
          <p:nvPr/>
        </p:nvSpPr>
        <p:spPr>
          <a:xfrm>
            <a:off x="6181344" y="3017520"/>
            <a:ext cx="2432304" cy="7863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Every action is logged — who did what, when. Full accountability from entry to closure.</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9"/>
        <p:cNvGrpSpPr/>
        <p:nvPr/>
      </p:nvGrpSpPr>
      <p:grpSpPr>
        <a:xfrm>
          <a:off x="0" y="0"/>
          <a:ext cx="0" cy="0"/>
          <a:chOff x="0" y="0"/>
          <a:chExt cx="0" cy="0"/>
        </a:xfrm>
      </p:grpSpPr>
      <p:sp>
        <p:nvSpPr>
          <p:cNvPr id="110" name="Google Shape;110;p6"/>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Built for Sri Lanka — By Sri Lanka</a:t>
            </a:r>
            <a:endParaRPr sz="2600" b="0" i="0" u="none" strike="noStrike" cap="none">
              <a:solidFill>
                <a:schemeClr val="dk1"/>
              </a:solidFill>
              <a:latin typeface="Calibri"/>
              <a:ea typeface="Calibri"/>
              <a:cs typeface="Calibri"/>
              <a:sym typeface="Calibri"/>
            </a:endParaRPr>
          </a:p>
        </p:txBody>
      </p:sp>
      <p:sp>
        <p:nvSpPr>
          <p:cNvPr id="111" name="Google Shape;111;p6"/>
          <p:cNvSpPr/>
          <p:nvPr/>
        </p:nvSpPr>
        <p:spPr>
          <a:xfrm>
            <a:off x="365760" y="658368"/>
            <a:ext cx="8412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57575"/>
              </a:buClr>
              <a:buSzPts val="1300"/>
              <a:buFont typeface="Calibri"/>
              <a:buNone/>
            </a:pPr>
            <a:r>
              <a:rPr lang="en-US" sz="1300" b="0" i="0" u="none" strike="noStrike" cap="none">
                <a:solidFill>
                  <a:srgbClr val="757575"/>
                </a:solidFill>
                <a:latin typeface="Calibri"/>
                <a:ea typeface="Calibri"/>
                <a:cs typeface="Calibri"/>
                <a:sym typeface="Calibri"/>
              </a:rPr>
              <a:t>Open source, Ministry-owned, AI-assisted development</a:t>
            </a:r>
            <a:endParaRPr sz="1300" b="0" i="0" u="none" strike="noStrike" cap="none">
              <a:solidFill>
                <a:schemeClr val="dk1"/>
              </a:solidFill>
              <a:latin typeface="Calibri"/>
              <a:ea typeface="Calibri"/>
              <a:cs typeface="Calibri"/>
              <a:sym typeface="Calibri"/>
            </a:endParaRPr>
          </a:p>
        </p:txBody>
      </p:sp>
      <p:sp>
        <p:nvSpPr>
          <p:cNvPr id="112" name="Google Shape;112;p6"/>
          <p:cNvSpPr/>
          <p:nvPr/>
        </p:nvSpPr>
        <p:spPr>
          <a:xfrm>
            <a:off x="365760" y="8869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6"/>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114" name="Google Shape;114;p6"/>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4</a:t>
            </a:r>
            <a:endParaRPr sz="800" b="0" i="0" u="none" strike="noStrike" cap="none">
              <a:solidFill>
                <a:schemeClr val="dk1"/>
              </a:solidFill>
              <a:latin typeface="Calibri"/>
              <a:ea typeface="Calibri"/>
              <a:cs typeface="Calibri"/>
              <a:sym typeface="Calibri"/>
            </a:endParaRPr>
          </a:p>
        </p:txBody>
      </p:sp>
      <p:sp>
        <p:nvSpPr>
          <p:cNvPr id="115" name="Google Shape;115;p6"/>
          <p:cNvSpPr/>
          <p:nvPr/>
        </p:nvSpPr>
        <p:spPr>
          <a:xfrm>
            <a:off x="365760" y="1005840"/>
            <a:ext cx="5029200" cy="3749040"/>
          </a:xfrm>
          <a:prstGeom prst="rect">
            <a:avLst/>
          </a:prstGeom>
          <a:solidFill>
            <a:srgbClr val="F5F7FA"/>
          </a:solidFill>
          <a:ln w="9525" cap="flat" cmpd="sng">
            <a:solidFill>
              <a:srgbClr val="D0D8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6"/>
          <p:cNvSpPr/>
          <p:nvPr/>
        </p:nvSpPr>
        <p:spPr>
          <a:xfrm>
            <a:off x="365760" y="1005840"/>
            <a:ext cx="73152" cy="3749040"/>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6"/>
          <p:cNvSpPr/>
          <p:nvPr/>
        </p:nvSpPr>
        <p:spPr>
          <a:xfrm>
            <a:off x="548640" y="1097280"/>
            <a:ext cx="46634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1300"/>
              <a:buFont typeface="Calibri"/>
              <a:buNone/>
            </a:pPr>
            <a:r>
              <a:rPr lang="en-US" sz="1300" b="1" i="0" u="none" strike="noStrike" cap="none">
                <a:solidFill>
                  <a:srgbClr val="1A237E"/>
                </a:solidFill>
                <a:latin typeface="Calibri"/>
                <a:ea typeface="Calibri"/>
                <a:cs typeface="Calibri"/>
                <a:sym typeface="Calibri"/>
              </a:rPr>
              <a:t>Open Source — Ministry Owned</a:t>
            </a:r>
            <a:endParaRPr sz="1300" b="0" i="0" u="none" strike="noStrike" cap="none">
              <a:solidFill>
                <a:schemeClr val="dk1"/>
              </a:solidFill>
              <a:latin typeface="Calibri"/>
              <a:ea typeface="Calibri"/>
              <a:cs typeface="Calibri"/>
              <a:sym typeface="Calibri"/>
            </a:endParaRPr>
          </a:p>
        </p:txBody>
      </p:sp>
      <p:sp>
        <p:nvSpPr>
          <p:cNvPr id="118" name="Google Shape;118;p6"/>
          <p:cNvSpPr/>
          <p:nvPr/>
        </p:nvSpPr>
        <p:spPr>
          <a:xfrm>
            <a:off x="566928" y="1444752"/>
            <a:ext cx="4663440" cy="146304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Developed entirely from scratch by the Health Informatics Unit</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Source code is 100% open source — transparent and auditable</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No commercial licensing fees — now or ever</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The Ministry of Health owns the system and all data</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Hosted at Ministry of Health Data Centre — data never leaves</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No procurement or vendor dependency</a:t>
            </a:r>
            <a:endParaRPr sz="1100" b="0" i="0" u="none" strike="noStrike" cap="none">
              <a:solidFill>
                <a:schemeClr val="dk1"/>
              </a:solidFill>
              <a:latin typeface="Calibri"/>
              <a:ea typeface="Calibri"/>
              <a:cs typeface="Calibri"/>
              <a:sym typeface="Calibri"/>
            </a:endParaRPr>
          </a:p>
        </p:txBody>
      </p:sp>
      <p:sp>
        <p:nvSpPr>
          <p:cNvPr id="119" name="Google Shape;119;p6"/>
          <p:cNvSpPr/>
          <p:nvPr/>
        </p:nvSpPr>
        <p:spPr>
          <a:xfrm>
            <a:off x="475488" y="2944368"/>
            <a:ext cx="4809744" cy="36576"/>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0" name="Google Shape;120;p6" descr="preencoded.png"/>
          <p:cNvPicPr preferRelativeResize="0"/>
          <p:nvPr/>
        </p:nvPicPr>
        <p:blipFill rotWithShape="1">
          <a:blip r:embed="rId3">
            <a:alphaModFix/>
          </a:blip>
          <a:srcRect/>
          <a:stretch/>
        </p:blipFill>
        <p:spPr>
          <a:xfrm>
            <a:off x="530352" y="3035808"/>
            <a:ext cx="292608" cy="292608"/>
          </a:xfrm>
          <a:prstGeom prst="rect">
            <a:avLst/>
          </a:prstGeom>
          <a:noFill/>
          <a:ln>
            <a:noFill/>
          </a:ln>
        </p:spPr>
      </p:pic>
      <p:sp>
        <p:nvSpPr>
          <p:cNvPr id="121" name="Google Shape;121;p6"/>
          <p:cNvSpPr/>
          <p:nvPr/>
        </p:nvSpPr>
        <p:spPr>
          <a:xfrm>
            <a:off x="877824" y="3035808"/>
            <a:ext cx="438912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38F"/>
              </a:buClr>
              <a:buSzPts val="1200"/>
              <a:buFont typeface="Calibri"/>
              <a:buNone/>
            </a:pPr>
            <a:r>
              <a:rPr lang="en-US" sz="1200" b="1" i="0" u="none" strike="noStrike" cap="none">
                <a:solidFill>
                  <a:srgbClr val="00838F"/>
                </a:solidFill>
                <a:latin typeface="Calibri"/>
                <a:ea typeface="Calibri"/>
                <a:cs typeface="Calibri"/>
                <a:sym typeface="Calibri"/>
              </a:rPr>
              <a:t>AI-Assisted Development &amp; Analysis</a:t>
            </a:r>
            <a:endParaRPr sz="1200" b="0" i="0" u="none" strike="noStrike" cap="none">
              <a:solidFill>
                <a:schemeClr val="dk1"/>
              </a:solidFill>
              <a:latin typeface="Calibri"/>
              <a:ea typeface="Calibri"/>
              <a:cs typeface="Calibri"/>
              <a:sym typeface="Calibri"/>
            </a:endParaRPr>
          </a:p>
        </p:txBody>
      </p:sp>
      <p:sp>
        <p:nvSpPr>
          <p:cNvPr id="122" name="Google Shape;122;p6"/>
          <p:cNvSpPr/>
          <p:nvPr/>
        </p:nvSpPr>
        <p:spPr>
          <a:xfrm>
            <a:off x="566928" y="3364992"/>
            <a:ext cx="4663440" cy="1261872"/>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212121"/>
              </a:buClr>
              <a:buSzPts val="1050"/>
              <a:buFont typeface="Calibri"/>
              <a:buChar char="•"/>
            </a:pPr>
            <a:r>
              <a:rPr lang="en-US" sz="1050" b="0" i="0" u="none" strike="noStrike" cap="none">
                <a:solidFill>
                  <a:srgbClr val="212121"/>
                </a:solidFill>
                <a:latin typeface="Calibri"/>
                <a:ea typeface="Calibri"/>
                <a:cs typeface="Calibri"/>
                <a:sym typeface="Calibri"/>
              </a:rPr>
              <a:t>Development assisted by Claude AI (Anthropic) — accelerating delivery and code quality</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050"/>
              <a:buFont typeface="Calibri"/>
              <a:buChar char="•"/>
            </a:pPr>
            <a:r>
              <a:rPr lang="en-US" sz="1050" b="0" i="0" u="none" strike="noStrike" cap="none">
                <a:solidFill>
                  <a:srgbClr val="212121"/>
                </a:solidFill>
                <a:latin typeface="Calibri"/>
                <a:ea typeface="Calibri"/>
                <a:cs typeface="Calibri"/>
                <a:sym typeface="Calibri"/>
              </a:rPr>
              <a:t>Data analysis and reporting powered by AI — enabling evidence-based decision making</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050"/>
              <a:buFont typeface="Calibri"/>
              <a:buChar char="•"/>
            </a:pPr>
            <a:r>
              <a:rPr lang="en-US" sz="1050" b="0" i="0" u="none" strike="noStrike" cap="none">
                <a:solidFill>
                  <a:srgbClr val="212121"/>
                </a:solidFill>
                <a:latin typeface="Calibri"/>
                <a:ea typeface="Calibri"/>
                <a:cs typeface="Calibri"/>
                <a:sym typeface="Calibri"/>
              </a:rPr>
              <a:t>A model for modern, in-house government digital systems</a:t>
            </a:r>
            <a:endParaRPr sz="1050" b="0" i="0" u="none" strike="noStrike" cap="none">
              <a:solidFill>
                <a:schemeClr val="dk1"/>
              </a:solidFill>
              <a:latin typeface="Calibri"/>
              <a:ea typeface="Calibri"/>
              <a:cs typeface="Calibri"/>
              <a:sym typeface="Calibri"/>
            </a:endParaRPr>
          </a:p>
        </p:txBody>
      </p:sp>
      <p:pic>
        <p:nvPicPr>
          <p:cNvPr id="123" name="Google Shape;123;p6" descr="preencoded.png"/>
          <p:cNvPicPr preferRelativeResize="0"/>
          <p:nvPr/>
        </p:nvPicPr>
        <p:blipFill rotWithShape="1">
          <a:blip r:embed="rId4">
            <a:alphaModFix/>
          </a:blip>
          <a:srcRect/>
          <a:stretch/>
        </p:blipFill>
        <p:spPr>
          <a:xfrm>
            <a:off x="5577840" y="1005840"/>
            <a:ext cx="3200400" cy="2011680"/>
          </a:xfrm>
          <a:prstGeom prst="rect">
            <a:avLst/>
          </a:prstGeom>
          <a:noFill/>
          <a:ln>
            <a:noFill/>
          </a:ln>
        </p:spPr>
      </p:pic>
      <p:sp>
        <p:nvSpPr>
          <p:cNvPr id="124" name="Google Shape;124;p6"/>
          <p:cNvSpPr/>
          <p:nvPr/>
        </p:nvSpPr>
        <p:spPr>
          <a:xfrm>
            <a:off x="5577840" y="3108960"/>
            <a:ext cx="3200400" cy="1645920"/>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6"/>
          <p:cNvSpPr/>
          <p:nvPr/>
        </p:nvSpPr>
        <p:spPr>
          <a:xfrm>
            <a:off x="5669280" y="3200400"/>
            <a:ext cx="30175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38F"/>
              </a:buClr>
              <a:buSzPts val="1100"/>
              <a:buFont typeface="Calibri"/>
              <a:buNone/>
            </a:pPr>
            <a:r>
              <a:rPr lang="en-US" sz="1100" b="1" i="0" u="none" strike="noStrike" cap="none">
                <a:solidFill>
                  <a:srgbClr val="00838F"/>
                </a:solidFill>
                <a:latin typeface="Calibri"/>
                <a:ea typeface="Calibri"/>
                <a:cs typeface="Calibri"/>
                <a:sym typeface="Calibri"/>
              </a:rPr>
              <a:t>What This Means For You</a:t>
            </a:r>
            <a:endParaRPr sz="1100" b="0" i="0" u="none" strike="noStrike" cap="none">
              <a:solidFill>
                <a:schemeClr val="dk1"/>
              </a:solidFill>
              <a:latin typeface="Calibri"/>
              <a:ea typeface="Calibri"/>
              <a:cs typeface="Calibri"/>
              <a:sym typeface="Calibri"/>
            </a:endParaRPr>
          </a:p>
        </p:txBody>
      </p:sp>
      <p:sp>
        <p:nvSpPr>
          <p:cNvPr id="126" name="Google Shape;126;p6"/>
          <p:cNvSpPr/>
          <p:nvPr/>
        </p:nvSpPr>
        <p:spPr>
          <a:xfrm>
            <a:off x="5669280" y="3493008"/>
            <a:ext cx="3017520" cy="120700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000"/>
              <a:buFont typeface="Calibri"/>
              <a:buChar char="•"/>
            </a:pPr>
            <a:r>
              <a:rPr lang="en-US" sz="1000" b="0" i="0" u="none" strike="noStrike" cap="none">
                <a:solidFill>
                  <a:srgbClr val="FFFFFF"/>
                </a:solidFill>
                <a:latin typeface="Calibri"/>
                <a:ea typeface="Calibri"/>
                <a:cs typeface="Calibri"/>
                <a:sym typeface="Calibri"/>
              </a:rPr>
              <a:t>No procurement needed to join</a:t>
            </a:r>
            <a:endParaRPr sz="10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FFFFFF"/>
              </a:buClr>
              <a:buSzPts val="1000"/>
              <a:buFont typeface="Calibri"/>
              <a:buChar char="•"/>
            </a:pPr>
            <a:r>
              <a:rPr lang="en-US" sz="1000" b="0" i="0" u="none" strike="noStrike" cap="none">
                <a:solidFill>
                  <a:srgbClr val="FFFFFF"/>
                </a:solidFill>
                <a:latin typeface="Calibri"/>
                <a:ea typeface="Calibri"/>
                <a:cs typeface="Calibri"/>
                <a:sym typeface="Calibri"/>
              </a:rPr>
              <a:t>HIU controls all updates and support</a:t>
            </a:r>
            <a:endParaRPr sz="10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FFFFFF"/>
              </a:buClr>
              <a:buSzPts val="1000"/>
              <a:buFont typeface="Calibri"/>
              <a:buChar char="•"/>
            </a:pPr>
            <a:r>
              <a:rPr lang="en-US" sz="1000" b="0" i="0" u="none" strike="noStrike" cap="none">
                <a:solidFill>
                  <a:srgbClr val="FFFFFF"/>
                </a:solidFill>
                <a:latin typeface="Calibri"/>
                <a:ea typeface="Calibri"/>
                <a:cs typeface="Calibri"/>
                <a:sym typeface="Calibri"/>
              </a:rPr>
              <a:t>Free training and helpdesk</a:t>
            </a:r>
            <a:endParaRPr sz="10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FFFFFF"/>
              </a:buClr>
              <a:buSzPts val="1000"/>
              <a:buFont typeface="Calibri"/>
              <a:buChar char="•"/>
            </a:pPr>
            <a:r>
              <a:rPr lang="en-US" sz="1000" b="0" i="0" u="none" strike="noStrike" cap="none">
                <a:solidFill>
                  <a:srgbClr val="FFFFFF"/>
                </a:solidFill>
                <a:latin typeface="Calibri"/>
                <a:ea typeface="Calibri"/>
                <a:cs typeface="Calibri"/>
                <a:sym typeface="Calibri"/>
              </a:rPr>
              <a:t>Continuously improved on user feedback</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1"/>
        <p:cNvGrpSpPr/>
        <p:nvPr/>
      </p:nvGrpSpPr>
      <p:grpSpPr>
        <a:xfrm>
          <a:off x="0" y="0"/>
          <a:ext cx="0" cy="0"/>
          <a:chOff x="0" y="0"/>
          <a:chExt cx="0" cy="0"/>
        </a:xfrm>
      </p:grpSpPr>
      <p:sp>
        <p:nvSpPr>
          <p:cNvPr id="132" name="Google Shape;132;p7"/>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National Dashboard — Live Ministry-Wide Visibility</a:t>
            </a:r>
            <a:endParaRPr sz="2600" b="0" i="0" u="none" strike="noStrike" cap="none">
              <a:solidFill>
                <a:schemeClr val="dk1"/>
              </a:solidFill>
              <a:latin typeface="Calibri"/>
              <a:ea typeface="Calibri"/>
              <a:cs typeface="Calibri"/>
              <a:sym typeface="Calibri"/>
            </a:endParaRPr>
          </a:p>
        </p:txBody>
      </p:sp>
      <p:sp>
        <p:nvSpPr>
          <p:cNvPr id="133" name="Google Shape;133;p7"/>
          <p:cNvSpPr/>
          <p:nvPr/>
        </p:nvSpPr>
        <p:spPr>
          <a:xfrm>
            <a:off x="365760" y="658368"/>
            <a:ext cx="8412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57575"/>
              </a:buClr>
              <a:buSzPts val="1300"/>
              <a:buFont typeface="Calibri"/>
              <a:buNone/>
            </a:pPr>
            <a:r>
              <a:rPr lang="en-US" sz="1300" b="0" i="0" u="none" strike="noStrike" cap="none">
                <a:solidFill>
                  <a:srgbClr val="757575"/>
                </a:solidFill>
                <a:latin typeface="Calibri"/>
                <a:ea typeface="Calibri"/>
                <a:cs typeface="Calibri"/>
                <a:sym typeface="Calibri"/>
              </a:rPr>
              <a:t>Data as of 03 May 2026</a:t>
            </a:r>
            <a:endParaRPr sz="1300" b="0" i="0" u="none" strike="noStrike" cap="none">
              <a:solidFill>
                <a:schemeClr val="dk1"/>
              </a:solidFill>
              <a:latin typeface="Calibri"/>
              <a:ea typeface="Calibri"/>
              <a:cs typeface="Calibri"/>
              <a:sym typeface="Calibri"/>
            </a:endParaRPr>
          </a:p>
        </p:txBody>
      </p:sp>
      <p:sp>
        <p:nvSpPr>
          <p:cNvPr id="134" name="Google Shape;134;p7"/>
          <p:cNvSpPr/>
          <p:nvPr/>
        </p:nvSpPr>
        <p:spPr>
          <a:xfrm>
            <a:off x="365760" y="8869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136" name="Google Shape;136;p7"/>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5</a:t>
            </a:r>
            <a:endParaRPr sz="800" b="0" i="0" u="none" strike="noStrike" cap="none">
              <a:solidFill>
                <a:schemeClr val="dk1"/>
              </a:solidFill>
              <a:latin typeface="Calibri"/>
              <a:ea typeface="Calibri"/>
              <a:cs typeface="Calibri"/>
              <a:sym typeface="Calibri"/>
            </a:endParaRPr>
          </a:p>
        </p:txBody>
      </p:sp>
      <p:pic>
        <p:nvPicPr>
          <p:cNvPr id="137" name="Google Shape;137;p7" descr="preencoded.png"/>
          <p:cNvPicPr preferRelativeResize="0"/>
          <p:nvPr/>
        </p:nvPicPr>
        <p:blipFill rotWithShape="1">
          <a:blip r:embed="rId3">
            <a:alphaModFix/>
          </a:blip>
          <a:srcRect/>
          <a:stretch/>
        </p:blipFill>
        <p:spPr>
          <a:xfrm>
            <a:off x="365760" y="1005840"/>
            <a:ext cx="5486400" cy="3749040"/>
          </a:xfrm>
          <a:prstGeom prst="rect">
            <a:avLst/>
          </a:prstGeom>
          <a:noFill/>
          <a:ln>
            <a:noFill/>
          </a:ln>
        </p:spPr>
      </p:pic>
      <p:sp>
        <p:nvSpPr>
          <p:cNvPr id="138" name="Google Shape;138;p7"/>
          <p:cNvSpPr/>
          <p:nvPr/>
        </p:nvSpPr>
        <p:spPr>
          <a:xfrm>
            <a:off x="6035040" y="1005840"/>
            <a:ext cx="2743200" cy="877824"/>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7"/>
          <p:cNvSpPr/>
          <p:nvPr/>
        </p:nvSpPr>
        <p:spPr>
          <a:xfrm>
            <a:off x="6035040" y="1097280"/>
            <a:ext cx="2743200" cy="48280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200"/>
              <a:buFont typeface="Calibri"/>
              <a:buNone/>
            </a:pPr>
            <a:r>
              <a:rPr lang="en-US" sz="3200" b="1" i="0" u="none" strike="noStrike" cap="none">
                <a:solidFill>
                  <a:srgbClr val="FFFFFF"/>
                </a:solidFill>
                <a:latin typeface="Calibri"/>
                <a:ea typeface="Calibri"/>
                <a:cs typeface="Calibri"/>
                <a:sym typeface="Calibri"/>
              </a:rPr>
              <a:t>130,778</a:t>
            </a:r>
            <a:endParaRPr sz="3200" b="0" i="0" u="none" strike="noStrike" cap="none">
              <a:solidFill>
                <a:schemeClr val="dk1"/>
              </a:solidFill>
              <a:latin typeface="Calibri"/>
              <a:ea typeface="Calibri"/>
              <a:cs typeface="Calibri"/>
              <a:sym typeface="Calibri"/>
            </a:endParaRPr>
          </a:p>
        </p:txBody>
      </p:sp>
      <p:sp>
        <p:nvSpPr>
          <p:cNvPr id="140" name="Google Shape;140;p7"/>
          <p:cNvSpPr/>
          <p:nvPr/>
        </p:nvSpPr>
        <p:spPr>
          <a:xfrm>
            <a:off x="6035040" y="1488643"/>
            <a:ext cx="2743200" cy="33357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Total Letters (All Time)</a:t>
            </a:r>
            <a:endParaRPr sz="1100" b="0" i="0" u="none" strike="noStrike" cap="none">
              <a:solidFill>
                <a:schemeClr val="dk1"/>
              </a:solidFill>
              <a:latin typeface="Calibri"/>
              <a:ea typeface="Calibri"/>
              <a:cs typeface="Calibri"/>
              <a:sym typeface="Calibri"/>
            </a:endParaRPr>
          </a:p>
        </p:txBody>
      </p:sp>
      <p:sp>
        <p:nvSpPr>
          <p:cNvPr id="141" name="Google Shape;141;p7"/>
          <p:cNvSpPr/>
          <p:nvPr/>
        </p:nvSpPr>
        <p:spPr>
          <a:xfrm>
            <a:off x="6035040" y="1956816"/>
            <a:ext cx="2743200" cy="877824"/>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7"/>
          <p:cNvSpPr/>
          <p:nvPr/>
        </p:nvSpPr>
        <p:spPr>
          <a:xfrm>
            <a:off x="6035040" y="2048256"/>
            <a:ext cx="2743200" cy="48280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200"/>
              <a:buFont typeface="Calibri"/>
              <a:buNone/>
            </a:pPr>
            <a:r>
              <a:rPr lang="en-US" sz="3200" b="1" i="0" u="none" strike="noStrike" cap="none">
                <a:solidFill>
                  <a:srgbClr val="FFFFFF"/>
                </a:solidFill>
                <a:latin typeface="Calibri"/>
                <a:ea typeface="Calibri"/>
                <a:cs typeface="Calibri"/>
                <a:sym typeface="Calibri"/>
              </a:rPr>
              <a:t>38,527</a:t>
            </a:r>
            <a:endParaRPr sz="3200" b="0" i="0" u="none" strike="noStrike" cap="none">
              <a:solidFill>
                <a:schemeClr val="dk1"/>
              </a:solidFill>
              <a:latin typeface="Calibri"/>
              <a:ea typeface="Calibri"/>
              <a:cs typeface="Calibri"/>
              <a:sym typeface="Calibri"/>
            </a:endParaRPr>
          </a:p>
        </p:txBody>
      </p:sp>
      <p:sp>
        <p:nvSpPr>
          <p:cNvPr id="143" name="Google Shape;143;p7"/>
          <p:cNvSpPr/>
          <p:nvPr/>
        </p:nvSpPr>
        <p:spPr>
          <a:xfrm>
            <a:off x="6035040" y="2439619"/>
            <a:ext cx="2743200" cy="33357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Letters Added Last Year</a:t>
            </a:r>
            <a:endParaRPr sz="1100" b="0" i="0" u="none" strike="noStrike" cap="none">
              <a:solidFill>
                <a:schemeClr val="dk1"/>
              </a:solidFill>
              <a:latin typeface="Calibri"/>
              <a:ea typeface="Calibri"/>
              <a:cs typeface="Calibri"/>
              <a:sym typeface="Calibri"/>
            </a:endParaRPr>
          </a:p>
        </p:txBody>
      </p:sp>
      <p:sp>
        <p:nvSpPr>
          <p:cNvPr id="144" name="Google Shape;144;p7"/>
          <p:cNvSpPr/>
          <p:nvPr/>
        </p:nvSpPr>
        <p:spPr>
          <a:xfrm>
            <a:off x="6035040" y="2907792"/>
            <a:ext cx="2743200" cy="877824"/>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7"/>
          <p:cNvSpPr/>
          <p:nvPr/>
        </p:nvSpPr>
        <p:spPr>
          <a:xfrm>
            <a:off x="6035040" y="2999232"/>
            <a:ext cx="2743200" cy="48280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200"/>
              <a:buFont typeface="Calibri"/>
              <a:buNone/>
            </a:pPr>
            <a:r>
              <a:rPr lang="en-US" sz="3200" b="1" i="0" u="none" strike="noStrike" cap="none">
                <a:solidFill>
                  <a:srgbClr val="FFFFFF"/>
                </a:solidFill>
                <a:latin typeface="Calibri"/>
                <a:ea typeface="Calibri"/>
                <a:cs typeface="Calibri"/>
                <a:sym typeface="Calibri"/>
              </a:rPr>
              <a:t>3,052</a:t>
            </a:r>
            <a:endParaRPr sz="3200" b="0" i="0" u="none" strike="noStrike" cap="none">
              <a:solidFill>
                <a:schemeClr val="dk1"/>
              </a:solidFill>
              <a:latin typeface="Calibri"/>
              <a:ea typeface="Calibri"/>
              <a:cs typeface="Calibri"/>
              <a:sym typeface="Calibri"/>
            </a:endParaRPr>
          </a:p>
        </p:txBody>
      </p:sp>
      <p:sp>
        <p:nvSpPr>
          <p:cNvPr id="146" name="Google Shape;146;p7"/>
          <p:cNvSpPr/>
          <p:nvPr/>
        </p:nvSpPr>
        <p:spPr>
          <a:xfrm>
            <a:off x="6035040" y="3390595"/>
            <a:ext cx="2743200" cy="33357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Letters Added Last 30 Days</a:t>
            </a:r>
            <a:endParaRPr sz="1100" b="0" i="0" u="none" strike="noStrike" cap="none">
              <a:solidFill>
                <a:schemeClr val="dk1"/>
              </a:solidFill>
              <a:latin typeface="Calibri"/>
              <a:ea typeface="Calibri"/>
              <a:cs typeface="Calibri"/>
              <a:sym typeface="Calibri"/>
            </a:endParaRPr>
          </a:p>
        </p:txBody>
      </p:sp>
      <p:sp>
        <p:nvSpPr>
          <p:cNvPr id="147" name="Google Shape;147;p7"/>
          <p:cNvSpPr/>
          <p:nvPr/>
        </p:nvSpPr>
        <p:spPr>
          <a:xfrm>
            <a:off x="6035040" y="3858768"/>
            <a:ext cx="2743200" cy="877824"/>
          </a:xfrm>
          <a:prstGeom prst="rect">
            <a:avLst/>
          </a:prstGeom>
          <a:solidFill>
            <a:srgbClr val="455A64"/>
          </a:solidFill>
          <a:ln w="12700" cap="flat" cmpd="sng">
            <a:solidFill>
              <a:srgbClr val="455A6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7"/>
          <p:cNvSpPr/>
          <p:nvPr/>
        </p:nvSpPr>
        <p:spPr>
          <a:xfrm>
            <a:off x="6035040" y="3950208"/>
            <a:ext cx="2743200" cy="48280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200"/>
              <a:buFont typeface="Calibri"/>
              <a:buNone/>
            </a:pPr>
            <a:r>
              <a:rPr lang="en-US" sz="3200" b="1" i="0" u="none" strike="noStrike" cap="none">
                <a:solidFill>
                  <a:srgbClr val="FFFFFF"/>
                </a:solidFill>
                <a:latin typeface="Calibri"/>
                <a:ea typeface="Calibri"/>
                <a:cs typeface="Calibri"/>
                <a:sym typeface="Calibri"/>
              </a:rPr>
              <a:t>132,186</a:t>
            </a:r>
            <a:endParaRPr sz="3200" b="0" i="0" u="none" strike="noStrike" cap="none">
              <a:solidFill>
                <a:schemeClr val="dk1"/>
              </a:solidFill>
              <a:latin typeface="Calibri"/>
              <a:ea typeface="Calibri"/>
              <a:cs typeface="Calibri"/>
              <a:sym typeface="Calibri"/>
            </a:endParaRPr>
          </a:p>
        </p:txBody>
      </p:sp>
      <p:sp>
        <p:nvSpPr>
          <p:cNvPr id="149" name="Google Shape;149;p7"/>
          <p:cNvSpPr/>
          <p:nvPr/>
        </p:nvSpPr>
        <p:spPr>
          <a:xfrm>
            <a:off x="6035040" y="4341571"/>
            <a:ext cx="2743200" cy="33357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Copy/Forwards Ever Sent</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4"/>
        <p:cNvGrpSpPr/>
        <p:nvPr/>
      </p:nvGrpSpPr>
      <p:grpSpPr>
        <a:xfrm>
          <a:off x="0" y="0"/>
          <a:ext cx="0" cy="0"/>
          <a:chOff x="0" y="0"/>
          <a:chExt cx="0" cy="0"/>
        </a:xfrm>
      </p:grpSpPr>
      <p:sp>
        <p:nvSpPr>
          <p:cNvPr id="155" name="Google Shape;155;p8"/>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Recording a Letter — Simple &amp; Fast</a:t>
            </a:r>
            <a:endParaRPr sz="2600" b="0" i="0" u="none" strike="noStrike" cap="none">
              <a:solidFill>
                <a:schemeClr val="dk1"/>
              </a:solidFill>
              <a:latin typeface="Calibri"/>
              <a:ea typeface="Calibri"/>
              <a:cs typeface="Calibri"/>
              <a:sym typeface="Calibri"/>
            </a:endParaRPr>
          </a:p>
        </p:txBody>
      </p:sp>
      <p:sp>
        <p:nvSpPr>
          <p:cNvPr id="156" name="Google Shape;156;p8"/>
          <p:cNvSpPr/>
          <p:nvPr/>
        </p:nvSpPr>
        <p:spPr>
          <a:xfrm>
            <a:off x="365760" y="6583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8"/>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158" name="Google Shape;158;p8"/>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6</a:t>
            </a:r>
            <a:endParaRPr sz="800" b="0" i="0" u="none" strike="noStrike" cap="none">
              <a:solidFill>
                <a:schemeClr val="dk1"/>
              </a:solidFill>
              <a:latin typeface="Calibri"/>
              <a:ea typeface="Calibri"/>
              <a:cs typeface="Calibri"/>
              <a:sym typeface="Calibri"/>
            </a:endParaRPr>
          </a:p>
        </p:txBody>
      </p:sp>
      <p:pic>
        <p:nvPicPr>
          <p:cNvPr id="159" name="Google Shape;159;p8" descr="preencoded.png"/>
          <p:cNvPicPr preferRelativeResize="0"/>
          <p:nvPr/>
        </p:nvPicPr>
        <p:blipFill rotWithShape="1">
          <a:blip r:embed="rId3">
            <a:alphaModFix/>
          </a:blip>
          <a:srcRect/>
          <a:stretch/>
        </p:blipFill>
        <p:spPr>
          <a:xfrm>
            <a:off x="365760" y="1005840"/>
            <a:ext cx="5303520" cy="3749040"/>
          </a:xfrm>
          <a:prstGeom prst="rect">
            <a:avLst/>
          </a:prstGeom>
          <a:noFill/>
          <a:ln>
            <a:noFill/>
          </a:ln>
        </p:spPr>
      </p:pic>
      <p:sp>
        <p:nvSpPr>
          <p:cNvPr id="160" name="Google Shape;160;p8"/>
          <p:cNvSpPr/>
          <p:nvPr/>
        </p:nvSpPr>
        <p:spPr>
          <a:xfrm>
            <a:off x="5897880" y="1024128"/>
            <a:ext cx="2880360" cy="676656"/>
          </a:xfrm>
          <a:prstGeom prst="rect">
            <a:avLst/>
          </a:prstGeom>
          <a:solidFill>
            <a:srgbClr val="F5F7FA"/>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8"/>
          <p:cNvSpPr/>
          <p:nvPr/>
        </p:nvSpPr>
        <p:spPr>
          <a:xfrm>
            <a:off x="5897880" y="1024128"/>
            <a:ext cx="64008" cy="676656"/>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p:nvPr/>
        </p:nvSpPr>
        <p:spPr>
          <a:xfrm>
            <a:off x="6016752" y="1069848"/>
            <a:ext cx="272491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1050"/>
              <a:buFont typeface="Calibri"/>
              <a:buNone/>
            </a:pPr>
            <a:r>
              <a:rPr lang="en-US" sz="1050" b="1" i="0" u="none" strike="noStrike" cap="none">
                <a:solidFill>
                  <a:srgbClr val="1A237E"/>
                </a:solidFill>
                <a:latin typeface="Calibri"/>
                <a:ea typeface="Calibri"/>
                <a:cs typeface="Calibri"/>
                <a:sym typeface="Calibri"/>
              </a:rPr>
              <a:t>Letter Date &amp; Stamp Date</a:t>
            </a:r>
            <a:endParaRPr sz="1050" b="0" i="0" u="none" strike="noStrike" cap="none">
              <a:solidFill>
                <a:schemeClr val="dk1"/>
              </a:solidFill>
              <a:latin typeface="Calibri"/>
              <a:ea typeface="Calibri"/>
              <a:cs typeface="Calibri"/>
              <a:sym typeface="Calibri"/>
            </a:endParaRPr>
          </a:p>
        </p:txBody>
      </p:sp>
      <p:sp>
        <p:nvSpPr>
          <p:cNvPr id="163" name="Google Shape;163;p8"/>
          <p:cNvSpPr/>
          <p:nvPr/>
        </p:nvSpPr>
        <p:spPr>
          <a:xfrm>
            <a:off x="6016752" y="1280160"/>
            <a:ext cx="272491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950"/>
              <a:buFont typeface="Calibri"/>
              <a:buNone/>
            </a:pPr>
            <a:r>
              <a:rPr lang="en-US" sz="950" b="0" i="0" u="none" strike="noStrike" cap="none">
                <a:solidFill>
                  <a:srgbClr val="212121"/>
                </a:solidFill>
                <a:latin typeface="Calibri"/>
                <a:ea typeface="Calibri"/>
                <a:cs typeface="Calibri"/>
                <a:sym typeface="Calibri"/>
              </a:rPr>
              <a:t>Record both the letter date and the received (stamp) date for accurate tracking.</a:t>
            </a:r>
            <a:endParaRPr sz="950" b="0" i="0" u="none" strike="noStrike" cap="none">
              <a:solidFill>
                <a:schemeClr val="dk1"/>
              </a:solidFill>
              <a:latin typeface="Calibri"/>
              <a:ea typeface="Calibri"/>
              <a:cs typeface="Calibri"/>
              <a:sym typeface="Calibri"/>
            </a:endParaRPr>
          </a:p>
        </p:txBody>
      </p:sp>
      <p:sp>
        <p:nvSpPr>
          <p:cNvPr id="164" name="Google Shape;164;p8"/>
          <p:cNvSpPr/>
          <p:nvPr/>
        </p:nvSpPr>
        <p:spPr>
          <a:xfrm>
            <a:off x="5897880" y="1773936"/>
            <a:ext cx="2880360" cy="676656"/>
          </a:xfrm>
          <a:prstGeom prst="rect">
            <a:avLst/>
          </a:prstGeom>
          <a:solidFill>
            <a:srgbClr val="F5F7FA"/>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p:nvPr/>
        </p:nvSpPr>
        <p:spPr>
          <a:xfrm>
            <a:off x="5897880" y="1773936"/>
            <a:ext cx="64008" cy="676656"/>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6016752" y="1819656"/>
            <a:ext cx="272491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38F"/>
              </a:buClr>
              <a:buSzPts val="1050"/>
              <a:buFont typeface="Calibri"/>
              <a:buNone/>
            </a:pPr>
            <a:r>
              <a:rPr lang="en-US" sz="1050" b="1" i="0" u="none" strike="noStrike" cap="none">
                <a:solidFill>
                  <a:srgbClr val="00838F"/>
                </a:solidFill>
                <a:latin typeface="Calibri"/>
                <a:ea typeface="Calibri"/>
                <a:cs typeface="Calibri"/>
                <a:sym typeface="Calibri"/>
              </a:rPr>
              <a:t>Received Method</a:t>
            </a:r>
            <a:endParaRPr sz="1050" b="0" i="0" u="none" strike="noStrike" cap="none">
              <a:solidFill>
                <a:schemeClr val="dk1"/>
              </a:solidFill>
              <a:latin typeface="Calibri"/>
              <a:ea typeface="Calibri"/>
              <a:cs typeface="Calibri"/>
              <a:sym typeface="Calibri"/>
            </a:endParaRPr>
          </a:p>
        </p:txBody>
      </p:sp>
      <p:sp>
        <p:nvSpPr>
          <p:cNvPr id="167" name="Google Shape;167;p8"/>
          <p:cNvSpPr/>
          <p:nvPr/>
        </p:nvSpPr>
        <p:spPr>
          <a:xfrm>
            <a:off x="6016752" y="2029968"/>
            <a:ext cx="272491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950"/>
              <a:buFont typeface="Calibri"/>
              <a:buNone/>
            </a:pPr>
            <a:r>
              <a:rPr lang="en-US" sz="950" b="0" i="0" u="none" strike="noStrike" cap="none">
                <a:solidFill>
                  <a:srgbClr val="212121"/>
                </a:solidFill>
                <a:latin typeface="Calibri"/>
                <a:ea typeface="Calibri"/>
                <a:cs typeface="Calibri"/>
                <a:sym typeface="Calibri"/>
              </a:rPr>
              <a:t>By hand, post, email, or fax — all receipt types supported.</a:t>
            </a:r>
            <a:endParaRPr sz="950" b="0" i="0" u="none" strike="noStrike" cap="none">
              <a:solidFill>
                <a:schemeClr val="dk1"/>
              </a:solidFill>
              <a:latin typeface="Calibri"/>
              <a:ea typeface="Calibri"/>
              <a:cs typeface="Calibri"/>
              <a:sym typeface="Calibri"/>
            </a:endParaRPr>
          </a:p>
        </p:txBody>
      </p:sp>
      <p:sp>
        <p:nvSpPr>
          <p:cNvPr id="168" name="Google Shape;168;p8"/>
          <p:cNvSpPr/>
          <p:nvPr/>
        </p:nvSpPr>
        <p:spPr>
          <a:xfrm>
            <a:off x="5897880" y="2523744"/>
            <a:ext cx="2880360" cy="676656"/>
          </a:xfrm>
          <a:prstGeom prst="rect">
            <a:avLst/>
          </a:prstGeom>
          <a:solidFill>
            <a:srgbClr val="F5F7FA"/>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8"/>
          <p:cNvSpPr/>
          <p:nvPr/>
        </p:nvSpPr>
        <p:spPr>
          <a:xfrm>
            <a:off x="5897880" y="2523744"/>
            <a:ext cx="64008" cy="676656"/>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8"/>
          <p:cNvSpPr/>
          <p:nvPr/>
        </p:nvSpPr>
        <p:spPr>
          <a:xfrm>
            <a:off x="6016752" y="2569464"/>
            <a:ext cx="272491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1050"/>
              <a:buFont typeface="Calibri"/>
              <a:buNone/>
            </a:pPr>
            <a:r>
              <a:rPr lang="en-US" sz="1050" b="1" i="0" u="none" strike="noStrike" cap="none">
                <a:solidFill>
                  <a:srgbClr val="1A237E"/>
                </a:solidFill>
                <a:latin typeface="Calibri"/>
                <a:ea typeface="Calibri"/>
                <a:cs typeface="Calibri"/>
                <a:sym typeface="Calibri"/>
              </a:rPr>
              <a:t>Language Selection</a:t>
            </a:r>
            <a:endParaRPr sz="1050" b="0" i="0" u="none" strike="noStrike" cap="none">
              <a:solidFill>
                <a:schemeClr val="dk1"/>
              </a:solidFill>
              <a:latin typeface="Calibri"/>
              <a:ea typeface="Calibri"/>
              <a:cs typeface="Calibri"/>
              <a:sym typeface="Calibri"/>
            </a:endParaRPr>
          </a:p>
        </p:txBody>
      </p:sp>
      <p:sp>
        <p:nvSpPr>
          <p:cNvPr id="171" name="Google Shape;171;p8"/>
          <p:cNvSpPr/>
          <p:nvPr/>
        </p:nvSpPr>
        <p:spPr>
          <a:xfrm>
            <a:off x="6016752" y="2779776"/>
            <a:ext cx="272491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950"/>
              <a:buFont typeface="Calibri"/>
              <a:buNone/>
            </a:pPr>
            <a:r>
              <a:rPr lang="en-US" sz="950" b="0" i="0" u="none" strike="noStrike" cap="none">
                <a:solidFill>
                  <a:srgbClr val="212121"/>
                </a:solidFill>
                <a:latin typeface="Calibri"/>
                <a:ea typeface="Calibri"/>
                <a:cs typeface="Calibri"/>
                <a:sym typeface="Calibri"/>
              </a:rPr>
              <a:t>Record and search in Sinhala, Tamil, or English.</a:t>
            </a:r>
            <a:endParaRPr sz="950" b="0" i="0" u="none" strike="noStrike" cap="none">
              <a:solidFill>
                <a:schemeClr val="dk1"/>
              </a:solidFill>
              <a:latin typeface="Calibri"/>
              <a:ea typeface="Calibri"/>
              <a:cs typeface="Calibri"/>
              <a:sym typeface="Calibri"/>
            </a:endParaRPr>
          </a:p>
        </p:txBody>
      </p:sp>
      <p:sp>
        <p:nvSpPr>
          <p:cNvPr id="172" name="Google Shape;172;p8"/>
          <p:cNvSpPr/>
          <p:nvPr/>
        </p:nvSpPr>
        <p:spPr>
          <a:xfrm>
            <a:off x="5897880" y="3273552"/>
            <a:ext cx="2880360" cy="676656"/>
          </a:xfrm>
          <a:prstGeom prst="rect">
            <a:avLst/>
          </a:prstGeom>
          <a:solidFill>
            <a:srgbClr val="F5F7FA"/>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p:nvPr/>
        </p:nvSpPr>
        <p:spPr>
          <a:xfrm>
            <a:off x="5897880" y="3273552"/>
            <a:ext cx="64008" cy="676656"/>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8"/>
          <p:cNvSpPr/>
          <p:nvPr/>
        </p:nvSpPr>
        <p:spPr>
          <a:xfrm>
            <a:off x="6016752" y="3319272"/>
            <a:ext cx="272491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7D32"/>
              </a:buClr>
              <a:buSzPts val="1050"/>
              <a:buFont typeface="Calibri"/>
              <a:buNone/>
            </a:pPr>
            <a:r>
              <a:rPr lang="en-US" sz="1050" b="1" i="0" u="none" strike="noStrike" cap="none">
                <a:solidFill>
                  <a:srgbClr val="2E7D32"/>
                </a:solidFill>
                <a:latin typeface="Calibri"/>
                <a:ea typeface="Calibri"/>
                <a:cs typeface="Calibri"/>
                <a:sym typeface="Calibri"/>
              </a:rPr>
              <a:t>Letter Title &amp; Sender</a:t>
            </a:r>
            <a:endParaRPr sz="1050" b="0" i="0" u="none" strike="noStrike" cap="none">
              <a:solidFill>
                <a:schemeClr val="dk1"/>
              </a:solidFill>
              <a:latin typeface="Calibri"/>
              <a:ea typeface="Calibri"/>
              <a:cs typeface="Calibri"/>
              <a:sym typeface="Calibri"/>
            </a:endParaRPr>
          </a:p>
        </p:txBody>
      </p:sp>
      <p:sp>
        <p:nvSpPr>
          <p:cNvPr id="175" name="Google Shape;175;p8"/>
          <p:cNvSpPr/>
          <p:nvPr/>
        </p:nvSpPr>
        <p:spPr>
          <a:xfrm>
            <a:off x="6016752" y="3529584"/>
            <a:ext cx="272491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950"/>
              <a:buFont typeface="Calibri"/>
              <a:buNone/>
            </a:pPr>
            <a:r>
              <a:rPr lang="en-US" sz="950" b="0" i="0" u="none" strike="noStrike" cap="none">
                <a:solidFill>
                  <a:srgbClr val="212121"/>
                </a:solidFill>
                <a:latin typeface="Calibri"/>
                <a:ea typeface="Calibri"/>
                <a:cs typeface="Calibri"/>
                <a:sym typeface="Calibri"/>
              </a:rPr>
              <a:t>Full title and sender details are stored for instant retrieval.</a:t>
            </a:r>
            <a:endParaRPr sz="950" b="0" i="0" u="none" strike="noStrike" cap="none">
              <a:solidFill>
                <a:schemeClr val="dk1"/>
              </a:solidFill>
              <a:latin typeface="Calibri"/>
              <a:ea typeface="Calibri"/>
              <a:cs typeface="Calibri"/>
              <a:sym typeface="Calibri"/>
            </a:endParaRPr>
          </a:p>
        </p:txBody>
      </p:sp>
      <p:sp>
        <p:nvSpPr>
          <p:cNvPr id="176" name="Google Shape;176;p8"/>
          <p:cNvSpPr/>
          <p:nvPr/>
        </p:nvSpPr>
        <p:spPr>
          <a:xfrm>
            <a:off x="5897880" y="4023360"/>
            <a:ext cx="2880360" cy="676656"/>
          </a:xfrm>
          <a:prstGeom prst="rect">
            <a:avLst/>
          </a:prstGeom>
          <a:solidFill>
            <a:srgbClr val="F5F7FA"/>
          </a:solidFill>
          <a:ln w="12700" cap="flat" cmpd="sng">
            <a:solidFill>
              <a:srgbClr val="455A6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8"/>
          <p:cNvSpPr/>
          <p:nvPr/>
        </p:nvSpPr>
        <p:spPr>
          <a:xfrm>
            <a:off x="5897880" y="4023360"/>
            <a:ext cx="64008" cy="676656"/>
          </a:xfrm>
          <a:prstGeom prst="rect">
            <a:avLst/>
          </a:prstGeom>
          <a:solidFill>
            <a:srgbClr val="455A64"/>
          </a:solidFill>
          <a:ln w="12700" cap="flat" cmpd="sng">
            <a:solidFill>
              <a:srgbClr val="455A6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8"/>
          <p:cNvSpPr/>
          <p:nvPr/>
        </p:nvSpPr>
        <p:spPr>
          <a:xfrm>
            <a:off x="6016752" y="4069080"/>
            <a:ext cx="272491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55A64"/>
              </a:buClr>
              <a:buSzPts val="1050"/>
              <a:buFont typeface="Calibri"/>
              <a:buNone/>
            </a:pPr>
            <a:r>
              <a:rPr lang="en-US" sz="1050" b="1" i="0" u="none" strike="noStrike" cap="none">
                <a:solidFill>
                  <a:srgbClr val="455A64"/>
                </a:solidFill>
                <a:latin typeface="Calibri"/>
                <a:ea typeface="Calibri"/>
                <a:cs typeface="Calibri"/>
                <a:sym typeface="Calibri"/>
              </a:rPr>
              <a:t>Status Tracking</a:t>
            </a:r>
            <a:endParaRPr sz="1050" b="0" i="0" u="none" strike="noStrike" cap="none">
              <a:solidFill>
                <a:schemeClr val="dk1"/>
              </a:solidFill>
              <a:latin typeface="Calibri"/>
              <a:ea typeface="Calibri"/>
              <a:cs typeface="Calibri"/>
              <a:sym typeface="Calibri"/>
            </a:endParaRPr>
          </a:p>
        </p:txBody>
      </p:sp>
      <p:sp>
        <p:nvSpPr>
          <p:cNvPr id="179" name="Google Shape;179;p8"/>
          <p:cNvSpPr/>
          <p:nvPr/>
        </p:nvSpPr>
        <p:spPr>
          <a:xfrm>
            <a:off x="6016752" y="4279392"/>
            <a:ext cx="272491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950"/>
              <a:buFont typeface="Calibri"/>
              <a:buNone/>
            </a:pPr>
            <a:r>
              <a:rPr lang="en-US" sz="950" b="0" i="0" u="none" strike="noStrike" cap="none">
                <a:solidFill>
                  <a:srgbClr val="212121"/>
                </a:solidFill>
                <a:latin typeface="Calibri"/>
                <a:ea typeface="Calibri"/>
                <a:cs typeface="Calibri"/>
                <a:sym typeface="Calibri"/>
              </a:rPr>
              <a:t>Letters can be marked pending, in progress, or completed.</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4"/>
        <p:cNvGrpSpPr/>
        <p:nvPr/>
      </p:nvGrpSpPr>
      <p:grpSpPr>
        <a:xfrm>
          <a:off x="0" y="0"/>
          <a:ext cx="0" cy="0"/>
          <a:chOff x="0" y="0"/>
          <a:chExt cx="0" cy="0"/>
        </a:xfrm>
      </p:grpSpPr>
      <p:sp>
        <p:nvSpPr>
          <p:cNvPr id="185" name="Google Shape;185;p9"/>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Letter Workflow — Forward, Assign, Record Action</a:t>
            </a:r>
            <a:endParaRPr sz="2600" b="0" i="0" u="none" strike="noStrike" cap="none">
              <a:solidFill>
                <a:schemeClr val="dk1"/>
              </a:solidFill>
              <a:latin typeface="Calibri"/>
              <a:ea typeface="Calibri"/>
              <a:cs typeface="Calibri"/>
              <a:sym typeface="Calibri"/>
            </a:endParaRPr>
          </a:p>
        </p:txBody>
      </p:sp>
      <p:sp>
        <p:nvSpPr>
          <p:cNvPr id="186" name="Google Shape;186;p9"/>
          <p:cNvSpPr/>
          <p:nvPr/>
        </p:nvSpPr>
        <p:spPr>
          <a:xfrm>
            <a:off x="365760" y="6583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9"/>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188" name="Google Shape;188;p9"/>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7</a:t>
            </a:r>
            <a:endParaRPr sz="800" b="0" i="0" u="none" strike="noStrike" cap="none">
              <a:solidFill>
                <a:schemeClr val="dk1"/>
              </a:solidFill>
              <a:latin typeface="Calibri"/>
              <a:ea typeface="Calibri"/>
              <a:cs typeface="Calibri"/>
              <a:sym typeface="Calibri"/>
            </a:endParaRPr>
          </a:p>
        </p:txBody>
      </p:sp>
      <p:pic>
        <p:nvPicPr>
          <p:cNvPr id="189" name="Google Shape;189;p9" descr="preencoded.png"/>
          <p:cNvPicPr preferRelativeResize="0"/>
          <p:nvPr/>
        </p:nvPicPr>
        <p:blipFill rotWithShape="1">
          <a:blip r:embed="rId3">
            <a:alphaModFix/>
          </a:blip>
          <a:srcRect/>
          <a:stretch/>
        </p:blipFill>
        <p:spPr>
          <a:xfrm>
            <a:off x="365760" y="1005840"/>
            <a:ext cx="5486400" cy="3749040"/>
          </a:xfrm>
          <a:prstGeom prst="rect">
            <a:avLst/>
          </a:prstGeom>
          <a:noFill/>
          <a:ln>
            <a:noFill/>
          </a:ln>
        </p:spPr>
      </p:pic>
      <p:sp>
        <p:nvSpPr>
          <p:cNvPr id="190" name="Google Shape;190;p9"/>
          <p:cNvSpPr/>
          <p:nvPr/>
        </p:nvSpPr>
        <p:spPr>
          <a:xfrm>
            <a:off x="6035040" y="1024128"/>
            <a:ext cx="2743200" cy="676656"/>
          </a:xfrm>
          <a:prstGeom prst="rect">
            <a:avLst/>
          </a:prstGeom>
          <a:solidFill>
            <a:srgbClr val="F5F7FA"/>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9"/>
          <p:cNvSpPr/>
          <p:nvPr/>
        </p:nvSpPr>
        <p:spPr>
          <a:xfrm>
            <a:off x="6035040" y="1024128"/>
            <a:ext cx="64008" cy="676656"/>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9"/>
          <p:cNvSpPr/>
          <p:nvPr/>
        </p:nvSpPr>
        <p:spPr>
          <a:xfrm>
            <a:off x="6153912" y="1069848"/>
            <a:ext cx="258775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38F"/>
              </a:buClr>
              <a:buSzPts val="1050"/>
              <a:buFont typeface="Calibri"/>
              <a:buNone/>
            </a:pPr>
            <a:r>
              <a:rPr lang="en-US" sz="1050" b="1" i="0" u="none" strike="noStrike" cap="none">
                <a:solidFill>
                  <a:srgbClr val="00838F"/>
                </a:solidFill>
                <a:latin typeface="Calibri"/>
                <a:ea typeface="Calibri"/>
                <a:cs typeface="Calibri"/>
                <a:sym typeface="Calibri"/>
              </a:rPr>
              <a:t>Forward / Copy To</a:t>
            </a:r>
            <a:endParaRPr sz="1050" b="0" i="0" u="none" strike="noStrike" cap="none">
              <a:solidFill>
                <a:schemeClr val="dk1"/>
              </a:solidFill>
              <a:latin typeface="Calibri"/>
              <a:ea typeface="Calibri"/>
              <a:cs typeface="Calibri"/>
              <a:sym typeface="Calibri"/>
            </a:endParaRPr>
          </a:p>
        </p:txBody>
      </p:sp>
      <p:sp>
        <p:nvSpPr>
          <p:cNvPr id="193" name="Google Shape;193;p9"/>
          <p:cNvSpPr/>
          <p:nvPr/>
        </p:nvSpPr>
        <p:spPr>
          <a:xfrm>
            <a:off x="6153912" y="1280160"/>
            <a:ext cx="258775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950"/>
              <a:buFont typeface="Calibri"/>
              <a:buNone/>
            </a:pPr>
            <a:r>
              <a:rPr lang="en-US" sz="950" b="0" i="0" u="none" strike="noStrike" cap="none">
                <a:solidFill>
                  <a:srgbClr val="212121"/>
                </a:solidFill>
                <a:latin typeface="Calibri"/>
                <a:ea typeface="Calibri"/>
                <a:cs typeface="Calibri"/>
                <a:sym typeface="Calibri"/>
              </a:rPr>
              <a:t>Add minutes and forward to any enrolled institution. Tracked until acknowledged.</a:t>
            </a:r>
            <a:endParaRPr sz="950" b="0" i="0" u="none" strike="noStrike" cap="none">
              <a:solidFill>
                <a:schemeClr val="dk1"/>
              </a:solidFill>
              <a:latin typeface="Calibri"/>
              <a:ea typeface="Calibri"/>
              <a:cs typeface="Calibri"/>
              <a:sym typeface="Calibri"/>
            </a:endParaRPr>
          </a:p>
        </p:txBody>
      </p:sp>
      <p:sp>
        <p:nvSpPr>
          <p:cNvPr id="194" name="Google Shape;194;p9"/>
          <p:cNvSpPr/>
          <p:nvPr/>
        </p:nvSpPr>
        <p:spPr>
          <a:xfrm>
            <a:off x="6035040" y="1773936"/>
            <a:ext cx="2743200" cy="676656"/>
          </a:xfrm>
          <a:prstGeom prst="rect">
            <a:avLst/>
          </a:prstGeom>
          <a:solidFill>
            <a:srgbClr val="F5F7FA"/>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9"/>
          <p:cNvSpPr/>
          <p:nvPr/>
        </p:nvSpPr>
        <p:spPr>
          <a:xfrm>
            <a:off x="6035040" y="1773936"/>
            <a:ext cx="64008" cy="676656"/>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9"/>
          <p:cNvSpPr/>
          <p:nvPr/>
        </p:nvSpPr>
        <p:spPr>
          <a:xfrm>
            <a:off x="6153912" y="1819656"/>
            <a:ext cx="258775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1050"/>
              <a:buFont typeface="Calibri"/>
              <a:buNone/>
            </a:pPr>
            <a:r>
              <a:rPr lang="en-US" sz="1050" b="1" i="0" u="none" strike="noStrike" cap="none">
                <a:solidFill>
                  <a:srgbClr val="1A237E"/>
                </a:solidFill>
                <a:latin typeface="Calibri"/>
                <a:ea typeface="Calibri"/>
                <a:cs typeface="Calibri"/>
                <a:sym typeface="Calibri"/>
              </a:rPr>
              <a:t>Assign to Staff</a:t>
            </a:r>
            <a:endParaRPr sz="1050" b="0" i="0" u="none" strike="noStrike" cap="none">
              <a:solidFill>
                <a:schemeClr val="dk1"/>
              </a:solidFill>
              <a:latin typeface="Calibri"/>
              <a:ea typeface="Calibri"/>
              <a:cs typeface="Calibri"/>
              <a:sym typeface="Calibri"/>
            </a:endParaRPr>
          </a:p>
        </p:txBody>
      </p:sp>
      <p:sp>
        <p:nvSpPr>
          <p:cNvPr id="197" name="Google Shape;197;p9"/>
          <p:cNvSpPr/>
          <p:nvPr/>
        </p:nvSpPr>
        <p:spPr>
          <a:xfrm>
            <a:off x="6153912" y="2029968"/>
            <a:ext cx="258775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950"/>
              <a:buFont typeface="Calibri"/>
              <a:buNone/>
            </a:pPr>
            <a:r>
              <a:rPr lang="en-US" sz="950" b="0" i="0" u="none" strike="noStrike" cap="none">
                <a:solidFill>
                  <a:srgbClr val="212121"/>
                </a:solidFill>
                <a:latin typeface="Calibri"/>
                <a:ea typeface="Calibri"/>
                <a:cs typeface="Calibri"/>
                <a:sym typeface="Calibri"/>
              </a:rPr>
              <a:t>Assign to a named staff member. They accept and record their action.</a:t>
            </a:r>
            <a:endParaRPr sz="950" b="0" i="0" u="none" strike="noStrike" cap="none">
              <a:solidFill>
                <a:schemeClr val="dk1"/>
              </a:solidFill>
              <a:latin typeface="Calibri"/>
              <a:ea typeface="Calibri"/>
              <a:cs typeface="Calibri"/>
              <a:sym typeface="Calibri"/>
            </a:endParaRPr>
          </a:p>
        </p:txBody>
      </p:sp>
      <p:sp>
        <p:nvSpPr>
          <p:cNvPr id="198" name="Google Shape;198;p9"/>
          <p:cNvSpPr/>
          <p:nvPr/>
        </p:nvSpPr>
        <p:spPr>
          <a:xfrm>
            <a:off x="6035040" y="2523744"/>
            <a:ext cx="2743200" cy="676656"/>
          </a:xfrm>
          <a:prstGeom prst="rect">
            <a:avLst/>
          </a:prstGeom>
          <a:solidFill>
            <a:srgbClr val="F5F7FA"/>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p:nvPr/>
        </p:nvSpPr>
        <p:spPr>
          <a:xfrm>
            <a:off x="6035040" y="2523744"/>
            <a:ext cx="64008" cy="676656"/>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9"/>
          <p:cNvSpPr/>
          <p:nvPr/>
        </p:nvSpPr>
        <p:spPr>
          <a:xfrm>
            <a:off x="6153912" y="2569464"/>
            <a:ext cx="258775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E7D32"/>
              </a:buClr>
              <a:buSzPts val="1050"/>
              <a:buFont typeface="Calibri"/>
              <a:buNone/>
            </a:pPr>
            <a:r>
              <a:rPr lang="en-US" sz="1050" b="1" i="0" u="none" strike="noStrike" cap="none">
                <a:solidFill>
                  <a:srgbClr val="2E7D32"/>
                </a:solidFill>
                <a:latin typeface="Calibri"/>
                <a:ea typeface="Calibri"/>
                <a:cs typeface="Calibri"/>
                <a:sym typeface="Calibri"/>
              </a:rPr>
              <a:t>Add Actions</a:t>
            </a:r>
            <a:endParaRPr sz="1050" b="0" i="0" u="none" strike="noStrike" cap="none">
              <a:solidFill>
                <a:schemeClr val="dk1"/>
              </a:solidFill>
              <a:latin typeface="Calibri"/>
              <a:ea typeface="Calibri"/>
              <a:cs typeface="Calibri"/>
              <a:sym typeface="Calibri"/>
            </a:endParaRPr>
          </a:p>
        </p:txBody>
      </p:sp>
      <p:sp>
        <p:nvSpPr>
          <p:cNvPr id="201" name="Google Shape;201;p9"/>
          <p:cNvSpPr/>
          <p:nvPr/>
        </p:nvSpPr>
        <p:spPr>
          <a:xfrm>
            <a:off x="6153912" y="2779776"/>
            <a:ext cx="258775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950"/>
              <a:buFont typeface="Calibri"/>
              <a:buNone/>
            </a:pPr>
            <a:r>
              <a:rPr lang="en-US" sz="950" b="0" i="0" u="none" strike="noStrike" cap="none">
                <a:solidFill>
                  <a:srgbClr val="212121"/>
                </a:solidFill>
                <a:latin typeface="Calibri"/>
                <a:ea typeface="Calibri"/>
                <a:cs typeface="Calibri"/>
                <a:sym typeface="Calibri"/>
              </a:rPr>
              <a:t>Record exactly what was done and when.</a:t>
            </a:r>
            <a:endParaRPr sz="950" b="0" i="0" u="none" strike="noStrike" cap="none">
              <a:solidFill>
                <a:schemeClr val="dk1"/>
              </a:solidFill>
              <a:latin typeface="Calibri"/>
              <a:ea typeface="Calibri"/>
              <a:cs typeface="Calibri"/>
              <a:sym typeface="Calibri"/>
            </a:endParaRPr>
          </a:p>
        </p:txBody>
      </p:sp>
      <p:sp>
        <p:nvSpPr>
          <p:cNvPr id="202" name="Google Shape;202;p9"/>
          <p:cNvSpPr/>
          <p:nvPr/>
        </p:nvSpPr>
        <p:spPr>
          <a:xfrm>
            <a:off x="6035040" y="3273552"/>
            <a:ext cx="2743200" cy="676656"/>
          </a:xfrm>
          <a:prstGeom prst="rect">
            <a:avLst/>
          </a:prstGeom>
          <a:solidFill>
            <a:srgbClr val="F5F7FA"/>
          </a:solidFill>
          <a:ln w="12700" cap="flat" cmpd="sng">
            <a:solidFill>
              <a:srgbClr val="455A6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9"/>
          <p:cNvSpPr/>
          <p:nvPr/>
        </p:nvSpPr>
        <p:spPr>
          <a:xfrm>
            <a:off x="6035040" y="3273552"/>
            <a:ext cx="64008" cy="676656"/>
          </a:xfrm>
          <a:prstGeom prst="rect">
            <a:avLst/>
          </a:prstGeom>
          <a:solidFill>
            <a:srgbClr val="455A64"/>
          </a:solidFill>
          <a:ln w="12700" cap="flat" cmpd="sng">
            <a:solidFill>
              <a:srgbClr val="455A6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9"/>
          <p:cNvSpPr/>
          <p:nvPr/>
        </p:nvSpPr>
        <p:spPr>
          <a:xfrm>
            <a:off x="6153912" y="3319272"/>
            <a:ext cx="258775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55A64"/>
              </a:buClr>
              <a:buSzPts val="1050"/>
              <a:buFont typeface="Calibri"/>
              <a:buNone/>
            </a:pPr>
            <a:r>
              <a:rPr lang="en-US" sz="1050" b="1" i="0" u="none" strike="noStrike" cap="none">
                <a:solidFill>
                  <a:srgbClr val="455A64"/>
                </a:solidFill>
                <a:latin typeface="Calibri"/>
                <a:ea typeface="Calibri"/>
                <a:cs typeface="Calibri"/>
                <a:sym typeface="Calibri"/>
              </a:rPr>
              <a:t>File Upload</a:t>
            </a:r>
            <a:endParaRPr sz="1050" b="0" i="0" u="none" strike="noStrike" cap="none">
              <a:solidFill>
                <a:schemeClr val="dk1"/>
              </a:solidFill>
              <a:latin typeface="Calibri"/>
              <a:ea typeface="Calibri"/>
              <a:cs typeface="Calibri"/>
              <a:sym typeface="Calibri"/>
            </a:endParaRPr>
          </a:p>
        </p:txBody>
      </p:sp>
      <p:sp>
        <p:nvSpPr>
          <p:cNvPr id="205" name="Google Shape;205;p9"/>
          <p:cNvSpPr/>
          <p:nvPr/>
        </p:nvSpPr>
        <p:spPr>
          <a:xfrm>
            <a:off x="6153912" y="3529584"/>
            <a:ext cx="258775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950"/>
              <a:buFont typeface="Calibri"/>
              <a:buNone/>
            </a:pPr>
            <a:r>
              <a:rPr lang="en-US" sz="950" b="0" i="0" u="none" strike="noStrike" cap="none">
                <a:solidFill>
                  <a:srgbClr val="212121"/>
                </a:solidFill>
                <a:latin typeface="Calibri"/>
                <a:ea typeface="Calibri"/>
                <a:cs typeface="Calibri"/>
                <a:sym typeface="Calibri"/>
              </a:rPr>
              <a:t>Attach scanned PDF or image of the physical letter.</a:t>
            </a:r>
            <a:endParaRPr sz="950" b="0" i="0" u="none" strike="noStrike" cap="none">
              <a:solidFill>
                <a:schemeClr val="dk1"/>
              </a:solidFill>
              <a:latin typeface="Calibri"/>
              <a:ea typeface="Calibri"/>
              <a:cs typeface="Calibri"/>
              <a:sym typeface="Calibri"/>
            </a:endParaRPr>
          </a:p>
        </p:txBody>
      </p:sp>
      <p:sp>
        <p:nvSpPr>
          <p:cNvPr id="206" name="Google Shape;206;p9"/>
          <p:cNvSpPr/>
          <p:nvPr/>
        </p:nvSpPr>
        <p:spPr>
          <a:xfrm>
            <a:off x="6035040" y="4023360"/>
            <a:ext cx="2743200" cy="676656"/>
          </a:xfrm>
          <a:prstGeom prst="rect">
            <a:avLst/>
          </a:prstGeom>
          <a:solidFill>
            <a:srgbClr val="F5F7FA"/>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9"/>
          <p:cNvSpPr/>
          <p:nvPr/>
        </p:nvSpPr>
        <p:spPr>
          <a:xfrm>
            <a:off x="6035040" y="4023360"/>
            <a:ext cx="64008" cy="676656"/>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9"/>
          <p:cNvSpPr/>
          <p:nvPr/>
        </p:nvSpPr>
        <p:spPr>
          <a:xfrm>
            <a:off x="6153912" y="4069080"/>
            <a:ext cx="258775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7F17"/>
              </a:buClr>
              <a:buSzPts val="1050"/>
              <a:buFont typeface="Calibri"/>
              <a:buNone/>
            </a:pPr>
            <a:r>
              <a:rPr lang="en-US" sz="1050" b="1" i="0" u="none" strike="noStrike" cap="none">
                <a:solidFill>
                  <a:srgbClr val="F57F17"/>
                </a:solidFill>
                <a:latin typeface="Calibri"/>
                <a:ea typeface="Calibri"/>
                <a:cs typeface="Calibri"/>
                <a:sym typeface="Calibri"/>
              </a:rPr>
              <a:t>Full History Log</a:t>
            </a:r>
            <a:endParaRPr sz="1050" b="0" i="0" u="none" strike="noStrike" cap="none">
              <a:solidFill>
                <a:schemeClr val="dk1"/>
              </a:solidFill>
              <a:latin typeface="Calibri"/>
              <a:ea typeface="Calibri"/>
              <a:cs typeface="Calibri"/>
              <a:sym typeface="Calibri"/>
            </a:endParaRPr>
          </a:p>
        </p:txBody>
      </p:sp>
      <p:sp>
        <p:nvSpPr>
          <p:cNvPr id="209" name="Google Shape;209;p9"/>
          <p:cNvSpPr/>
          <p:nvPr/>
        </p:nvSpPr>
        <p:spPr>
          <a:xfrm>
            <a:off x="6153912" y="4279392"/>
            <a:ext cx="2587752"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950"/>
              <a:buFont typeface="Calibri"/>
              <a:buNone/>
            </a:pPr>
            <a:r>
              <a:rPr lang="en-US" sz="950" b="0" i="0" u="none" strike="noStrike" cap="none">
                <a:solidFill>
                  <a:srgbClr val="212121"/>
                </a:solidFill>
                <a:latin typeface="Calibri"/>
                <a:ea typeface="Calibri"/>
                <a:cs typeface="Calibri"/>
                <a:sym typeface="Calibri"/>
              </a:rPr>
              <a:t>Every event — forwarding, assignment, action — is recorded with date and user.</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4"/>
        <p:cNvGrpSpPr/>
        <p:nvPr/>
      </p:nvGrpSpPr>
      <p:grpSpPr>
        <a:xfrm>
          <a:off x="0" y="0"/>
          <a:ext cx="0" cy="0"/>
          <a:chOff x="0" y="0"/>
          <a:chExt cx="0" cy="0"/>
        </a:xfrm>
      </p:grpSpPr>
      <p:sp>
        <p:nvSpPr>
          <p:cNvPr id="215" name="Google Shape;215;p10"/>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DMIS by the Numbers</a:t>
            </a:r>
            <a:endParaRPr sz="2600" b="0" i="0" u="none" strike="noStrike" cap="none">
              <a:solidFill>
                <a:schemeClr val="dk1"/>
              </a:solidFill>
              <a:latin typeface="Calibri"/>
              <a:ea typeface="Calibri"/>
              <a:cs typeface="Calibri"/>
              <a:sym typeface="Calibri"/>
            </a:endParaRPr>
          </a:p>
        </p:txBody>
      </p:sp>
      <p:sp>
        <p:nvSpPr>
          <p:cNvPr id="216" name="Google Shape;216;p10"/>
          <p:cNvSpPr/>
          <p:nvPr/>
        </p:nvSpPr>
        <p:spPr>
          <a:xfrm>
            <a:off x="365760" y="658368"/>
            <a:ext cx="8412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57575"/>
              </a:buClr>
              <a:buSzPts val="1300"/>
              <a:buFont typeface="Calibri"/>
              <a:buNone/>
            </a:pPr>
            <a:r>
              <a:rPr lang="en-US" sz="1300" b="0" i="0" u="none" strike="noStrike" cap="none">
                <a:solidFill>
                  <a:srgbClr val="757575"/>
                </a:solidFill>
                <a:latin typeface="Calibri"/>
                <a:ea typeface="Calibri"/>
                <a:cs typeface="Calibri"/>
                <a:sym typeface="Calibri"/>
              </a:rPr>
              <a:t>National Performance Report — 03 May 2026</a:t>
            </a:r>
            <a:endParaRPr sz="1300" b="0" i="0" u="none" strike="noStrike" cap="none">
              <a:solidFill>
                <a:schemeClr val="dk1"/>
              </a:solidFill>
              <a:latin typeface="Calibri"/>
              <a:ea typeface="Calibri"/>
              <a:cs typeface="Calibri"/>
              <a:sym typeface="Calibri"/>
            </a:endParaRPr>
          </a:p>
        </p:txBody>
      </p:sp>
      <p:sp>
        <p:nvSpPr>
          <p:cNvPr id="217" name="Google Shape;217;p10"/>
          <p:cNvSpPr/>
          <p:nvPr/>
        </p:nvSpPr>
        <p:spPr>
          <a:xfrm>
            <a:off x="365760" y="8869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0"/>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219" name="Google Shape;219;p10"/>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8</a:t>
            </a:r>
            <a:endParaRPr sz="800" b="0" i="0" u="none" strike="noStrike" cap="none">
              <a:solidFill>
                <a:schemeClr val="dk1"/>
              </a:solidFill>
              <a:latin typeface="Calibri"/>
              <a:ea typeface="Calibri"/>
              <a:cs typeface="Calibri"/>
              <a:sym typeface="Calibri"/>
            </a:endParaRPr>
          </a:p>
        </p:txBody>
      </p:sp>
      <p:pic>
        <p:nvPicPr>
          <p:cNvPr id="220" name="Google Shape;220;p10"/>
          <p:cNvPicPr preferRelativeResize="0"/>
          <p:nvPr/>
        </p:nvPicPr>
        <p:blipFill rotWithShape="1">
          <a:blip r:embed="rId3">
            <a:alphaModFix/>
          </a:blip>
          <a:srcRect/>
          <a:stretch/>
        </p:blipFill>
        <p:spPr>
          <a:xfrm>
            <a:off x="365760" y="987552"/>
            <a:ext cx="5486400" cy="2743200"/>
          </a:xfrm>
          <a:prstGeom prst="rect">
            <a:avLst/>
          </a:prstGeom>
          <a:noFill/>
          <a:ln>
            <a:noFill/>
          </a:ln>
        </p:spPr>
      </p:pic>
      <p:sp>
        <p:nvSpPr>
          <p:cNvPr id="221" name="Google Shape;221;p10"/>
          <p:cNvSpPr/>
          <p:nvPr/>
        </p:nvSpPr>
        <p:spPr>
          <a:xfrm>
            <a:off x="6035040" y="987552"/>
            <a:ext cx="2743200" cy="640080"/>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0"/>
          <p:cNvSpPr/>
          <p:nvPr/>
        </p:nvSpPr>
        <p:spPr>
          <a:xfrm>
            <a:off x="6035040" y="1078992"/>
            <a:ext cx="2743200" cy="35204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200"/>
              <a:buFont typeface="Calibri"/>
              <a:buNone/>
            </a:pPr>
            <a:r>
              <a:rPr lang="en-US" sz="3200" b="1" i="0" u="none" strike="noStrike" cap="none">
                <a:solidFill>
                  <a:srgbClr val="FFFFFF"/>
                </a:solidFill>
                <a:latin typeface="Calibri"/>
                <a:ea typeface="Calibri"/>
                <a:cs typeface="Calibri"/>
                <a:sym typeface="Calibri"/>
              </a:rPr>
              <a:t>130,778</a:t>
            </a:r>
            <a:endParaRPr sz="3200" b="0" i="0" u="none" strike="noStrike" cap="none">
              <a:solidFill>
                <a:schemeClr val="dk1"/>
              </a:solidFill>
              <a:latin typeface="Calibri"/>
              <a:ea typeface="Calibri"/>
              <a:cs typeface="Calibri"/>
              <a:sym typeface="Calibri"/>
            </a:endParaRPr>
          </a:p>
        </p:txBody>
      </p:sp>
      <p:sp>
        <p:nvSpPr>
          <p:cNvPr id="223" name="Google Shape;223;p10"/>
          <p:cNvSpPr/>
          <p:nvPr/>
        </p:nvSpPr>
        <p:spPr>
          <a:xfrm>
            <a:off x="6035040" y="1339596"/>
            <a:ext cx="2743200" cy="24323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Total Letters</a:t>
            </a:r>
            <a:endParaRPr sz="1100" b="0" i="0" u="none" strike="noStrike" cap="none">
              <a:solidFill>
                <a:schemeClr val="dk1"/>
              </a:solidFill>
              <a:latin typeface="Calibri"/>
              <a:ea typeface="Calibri"/>
              <a:cs typeface="Calibri"/>
              <a:sym typeface="Calibri"/>
            </a:endParaRPr>
          </a:p>
        </p:txBody>
      </p:sp>
      <p:sp>
        <p:nvSpPr>
          <p:cNvPr id="224" name="Google Shape;224;p10"/>
          <p:cNvSpPr/>
          <p:nvPr/>
        </p:nvSpPr>
        <p:spPr>
          <a:xfrm>
            <a:off x="6035040" y="1700784"/>
            <a:ext cx="2743200" cy="64008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0"/>
          <p:cNvSpPr/>
          <p:nvPr/>
        </p:nvSpPr>
        <p:spPr>
          <a:xfrm>
            <a:off x="6035040" y="1792224"/>
            <a:ext cx="2743200" cy="35204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200"/>
              <a:buFont typeface="Calibri"/>
              <a:buNone/>
            </a:pPr>
            <a:r>
              <a:rPr lang="en-US" sz="3200" b="1" i="0" u="none" strike="noStrike" cap="none">
                <a:solidFill>
                  <a:srgbClr val="FFFFFF"/>
                </a:solidFill>
                <a:latin typeface="Calibri"/>
                <a:ea typeface="Calibri"/>
                <a:cs typeface="Calibri"/>
                <a:sym typeface="Calibri"/>
              </a:rPr>
              <a:t>3,052</a:t>
            </a:r>
            <a:endParaRPr sz="3200" b="0" i="0" u="none" strike="noStrike" cap="none">
              <a:solidFill>
                <a:schemeClr val="dk1"/>
              </a:solidFill>
              <a:latin typeface="Calibri"/>
              <a:ea typeface="Calibri"/>
              <a:cs typeface="Calibri"/>
              <a:sym typeface="Calibri"/>
            </a:endParaRPr>
          </a:p>
        </p:txBody>
      </p:sp>
      <p:sp>
        <p:nvSpPr>
          <p:cNvPr id="226" name="Google Shape;226;p10"/>
          <p:cNvSpPr/>
          <p:nvPr/>
        </p:nvSpPr>
        <p:spPr>
          <a:xfrm>
            <a:off x="6035040" y="2052828"/>
            <a:ext cx="2743200" cy="24323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Last 30 Days</a:t>
            </a:r>
            <a:endParaRPr sz="1100" b="0" i="0" u="none" strike="noStrike" cap="none">
              <a:solidFill>
                <a:schemeClr val="dk1"/>
              </a:solidFill>
              <a:latin typeface="Calibri"/>
              <a:ea typeface="Calibri"/>
              <a:cs typeface="Calibri"/>
              <a:sym typeface="Calibri"/>
            </a:endParaRPr>
          </a:p>
        </p:txBody>
      </p:sp>
      <p:sp>
        <p:nvSpPr>
          <p:cNvPr id="227" name="Google Shape;227;p10"/>
          <p:cNvSpPr/>
          <p:nvPr/>
        </p:nvSpPr>
        <p:spPr>
          <a:xfrm>
            <a:off x="6035040" y="2414016"/>
            <a:ext cx="2743200" cy="640080"/>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0"/>
          <p:cNvSpPr/>
          <p:nvPr/>
        </p:nvSpPr>
        <p:spPr>
          <a:xfrm>
            <a:off x="6035040" y="2505456"/>
            <a:ext cx="2743200" cy="35204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200"/>
              <a:buFont typeface="Calibri"/>
              <a:buNone/>
            </a:pPr>
            <a:r>
              <a:rPr lang="en-US" sz="3200" b="1" i="0" u="none" strike="noStrike" cap="none">
                <a:solidFill>
                  <a:srgbClr val="FFFFFF"/>
                </a:solidFill>
                <a:latin typeface="Calibri"/>
                <a:ea typeface="Calibri"/>
                <a:cs typeface="Calibri"/>
                <a:sym typeface="Calibri"/>
              </a:rPr>
              <a:t>489</a:t>
            </a:r>
            <a:endParaRPr sz="3200" b="0" i="0" u="none" strike="noStrike" cap="none">
              <a:solidFill>
                <a:schemeClr val="dk1"/>
              </a:solidFill>
              <a:latin typeface="Calibri"/>
              <a:ea typeface="Calibri"/>
              <a:cs typeface="Calibri"/>
              <a:sym typeface="Calibri"/>
            </a:endParaRPr>
          </a:p>
        </p:txBody>
      </p:sp>
      <p:sp>
        <p:nvSpPr>
          <p:cNvPr id="229" name="Google Shape;229;p10"/>
          <p:cNvSpPr/>
          <p:nvPr/>
        </p:nvSpPr>
        <p:spPr>
          <a:xfrm>
            <a:off x="6035040" y="2766060"/>
            <a:ext cx="2743200" cy="24323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Assignments Issued</a:t>
            </a:r>
            <a:endParaRPr sz="1100" b="0" i="0" u="none" strike="noStrike" cap="none">
              <a:solidFill>
                <a:schemeClr val="dk1"/>
              </a:solidFill>
              <a:latin typeface="Calibri"/>
              <a:ea typeface="Calibri"/>
              <a:cs typeface="Calibri"/>
              <a:sym typeface="Calibri"/>
            </a:endParaRPr>
          </a:p>
        </p:txBody>
      </p:sp>
      <p:sp>
        <p:nvSpPr>
          <p:cNvPr id="230" name="Google Shape;230;p10"/>
          <p:cNvSpPr/>
          <p:nvPr/>
        </p:nvSpPr>
        <p:spPr>
          <a:xfrm>
            <a:off x="6035040" y="3127248"/>
            <a:ext cx="2743200" cy="640080"/>
          </a:xfrm>
          <a:prstGeom prst="rect">
            <a:avLst/>
          </a:prstGeom>
          <a:solidFill>
            <a:srgbClr val="455A64"/>
          </a:solidFill>
          <a:ln w="12700" cap="flat" cmpd="sng">
            <a:solidFill>
              <a:srgbClr val="455A6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0"/>
          <p:cNvSpPr/>
          <p:nvPr/>
        </p:nvSpPr>
        <p:spPr>
          <a:xfrm>
            <a:off x="6035040" y="3218688"/>
            <a:ext cx="2743200" cy="35204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200"/>
              <a:buFont typeface="Calibri"/>
              <a:buNone/>
            </a:pPr>
            <a:r>
              <a:rPr lang="en-US" sz="3200" b="1" i="0" u="none" strike="noStrike" cap="none">
                <a:solidFill>
                  <a:srgbClr val="FFFFFF"/>
                </a:solidFill>
                <a:latin typeface="Calibri"/>
                <a:ea typeface="Calibri"/>
                <a:cs typeface="Calibri"/>
                <a:sym typeface="Calibri"/>
              </a:rPr>
              <a:t>2,573</a:t>
            </a:r>
            <a:endParaRPr sz="3200" b="0" i="0" u="none" strike="noStrike" cap="none">
              <a:solidFill>
                <a:schemeClr val="dk1"/>
              </a:solidFill>
              <a:latin typeface="Calibri"/>
              <a:ea typeface="Calibri"/>
              <a:cs typeface="Calibri"/>
              <a:sym typeface="Calibri"/>
            </a:endParaRPr>
          </a:p>
        </p:txBody>
      </p:sp>
      <p:sp>
        <p:nvSpPr>
          <p:cNvPr id="232" name="Google Shape;232;p10"/>
          <p:cNvSpPr/>
          <p:nvPr/>
        </p:nvSpPr>
        <p:spPr>
          <a:xfrm>
            <a:off x="6035040" y="3479292"/>
            <a:ext cx="2743200" cy="24323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100"/>
              <a:buFont typeface="Calibri"/>
              <a:buNone/>
            </a:pPr>
            <a:r>
              <a:rPr lang="en-US" sz="1100" b="0" i="0" u="none" strike="noStrike" cap="none">
                <a:solidFill>
                  <a:srgbClr val="FFFFFF"/>
                </a:solidFill>
                <a:latin typeface="Calibri"/>
                <a:ea typeface="Calibri"/>
                <a:cs typeface="Calibri"/>
                <a:sym typeface="Calibri"/>
              </a:rPr>
              <a:t>Copy/Forwards (30d)</a:t>
            </a:r>
            <a:endParaRPr sz="1100" b="0" i="0" u="none" strike="noStrike" cap="none">
              <a:solidFill>
                <a:schemeClr val="dk1"/>
              </a:solidFill>
              <a:latin typeface="Calibri"/>
              <a:ea typeface="Calibri"/>
              <a:cs typeface="Calibri"/>
              <a:sym typeface="Calibri"/>
            </a:endParaRPr>
          </a:p>
        </p:txBody>
      </p:sp>
      <p:sp>
        <p:nvSpPr>
          <p:cNvPr id="233" name="Google Shape;233;p10"/>
          <p:cNvSpPr/>
          <p:nvPr/>
        </p:nvSpPr>
        <p:spPr>
          <a:xfrm>
            <a:off x="365760" y="3794760"/>
            <a:ext cx="8412480" cy="868680"/>
          </a:xfrm>
          <a:prstGeom prst="rect">
            <a:avLst/>
          </a:prstGeom>
          <a:solidFill>
            <a:srgbClr val="ECEFF1"/>
          </a:solidFill>
          <a:ln w="12700"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0"/>
          <p:cNvSpPr/>
          <p:nvPr/>
        </p:nvSpPr>
        <p:spPr>
          <a:xfrm>
            <a:off x="457200" y="3858768"/>
            <a:ext cx="822960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237E"/>
              </a:buClr>
              <a:buSzPts val="1150"/>
              <a:buFont typeface="Calibri"/>
              <a:buNone/>
            </a:pPr>
            <a:r>
              <a:rPr lang="en-US" sz="1150" b="0" i="0" u="none" strike="noStrike" cap="none">
                <a:solidFill>
                  <a:srgbClr val="1A237E"/>
                </a:solidFill>
                <a:latin typeface="Calibri"/>
                <a:ea typeface="Calibri"/>
                <a:cs typeface="Calibri"/>
                <a:sym typeface="Calibri"/>
              </a:rPr>
              <a:t>Copy/Forward Receipt Rate (30d): 12.32%  |  Assignment Acceptance Rate (30d): 29.04%  |  Letters Last Year: 38,527</a:t>
            </a:r>
            <a:endParaRPr sz="1150" b="0" i="0" u="none" strike="noStrike" cap="none">
              <a:solidFill>
                <a:schemeClr val="dk1"/>
              </a:solidFill>
              <a:latin typeface="Calibri"/>
              <a:ea typeface="Calibri"/>
              <a:cs typeface="Calibri"/>
              <a:sym typeface="Calibri"/>
            </a:endParaRPr>
          </a:p>
        </p:txBody>
      </p:sp>
      <p:sp>
        <p:nvSpPr>
          <p:cNvPr id="235" name="Google Shape;235;p10"/>
          <p:cNvSpPr/>
          <p:nvPr/>
        </p:nvSpPr>
        <p:spPr>
          <a:xfrm>
            <a:off x="457200" y="4187952"/>
            <a:ext cx="822960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57575"/>
              </a:buClr>
              <a:buSzPts val="1000"/>
              <a:buFont typeface="Calibri"/>
              <a:buNone/>
            </a:pPr>
            <a:r>
              <a:rPr lang="en-US" sz="1000" b="0" i="1" u="none" strike="noStrike" cap="none">
                <a:solidFill>
                  <a:srgbClr val="757575"/>
                </a:solidFill>
                <a:latin typeface="Calibri"/>
                <a:ea typeface="Calibri"/>
                <a:cs typeface="Calibri"/>
                <a:sym typeface="Calibri"/>
              </a:rPr>
              <a:t>Note: Low receipt/acceptance rates indicate that many enrolled units have not yet logged in. Joining = instant improvement.</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0"/>
        <p:cNvGrpSpPr/>
        <p:nvPr/>
      </p:nvGrpSpPr>
      <p:grpSpPr>
        <a:xfrm>
          <a:off x="0" y="0"/>
          <a:ext cx="0" cy="0"/>
          <a:chOff x="0" y="0"/>
          <a:chExt cx="0" cy="0"/>
        </a:xfrm>
      </p:grpSpPr>
      <p:sp>
        <p:nvSpPr>
          <p:cNvPr id="241" name="Google Shape;241;p11"/>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Modern Development — AI as a Development Partner</a:t>
            </a:r>
            <a:endParaRPr sz="2600" b="0" i="0" u="none" strike="noStrike" cap="none">
              <a:solidFill>
                <a:schemeClr val="dk1"/>
              </a:solidFill>
              <a:latin typeface="Calibri"/>
              <a:ea typeface="Calibri"/>
              <a:cs typeface="Calibri"/>
              <a:sym typeface="Calibri"/>
            </a:endParaRPr>
          </a:p>
        </p:txBody>
      </p:sp>
      <p:sp>
        <p:nvSpPr>
          <p:cNvPr id="242" name="Google Shape;242;p11"/>
          <p:cNvSpPr/>
          <p:nvPr/>
        </p:nvSpPr>
        <p:spPr>
          <a:xfrm>
            <a:off x="365760" y="6583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1"/>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244" name="Google Shape;244;p11"/>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9</a:t>
            </a:r>
            <a:endParaRPr sz="800" b="0" i="0" u="none" strike="noStrike" cap="none">
              <a:solidFill>
                <a:schemeClr val="dk1"/>
              </a:solidFill>
              <a:latin typeface="Calibri"/>
              <a:ea typeface="Calibri"/>
              <a:cs typeface="Calibri"/>
              <a:sym typeface="Calibri"/>
            </a:endParaRPr>
          </a:p>
        </p:txBody>
      </p:sp>
      <p:pic>
        <p:nvPicPr>
          <p:cNvPr id="245" name="Google Shape;245;p11" descr="preencoded.png"/>
          <p:cNvPicPr preferRelativeResize="0"/>
          <p:nvPr/>
        </p:nvPicPr>
        <p:blipFill rotWithShape="1">
          <a:blip r:embed="rId3">
            <a:alphaModFix/>
          </a:blip>
          <a:srcRect/>
          <a:stretch/>
        </p:blipFill>
        <p:spPr>
          <a:xfrm>
            <a:off x="365760" y="1005840"/>
            <a:ext cx="5120640" cy="3200400"/>
          </a:xfrm>
          <a:prstGeom prst="rect">
            <a:avLst/>
          </a:prstGeom>
          <a:noFill/>
          <a:ln>
            <a:noFill/>
          </a:ln>
        </p:spPr>
      </p:pic>
      <p:sp>
        <p:nvSpPr>
          <p:cNvPr id="246" name="Google Shape;246;p11"/>
          <p:cNvSpPr/>
          <p:nvPr/>
        </p:nvSpPr>
        <p:spPr>
          <a:xfrm>
            <a:off x="365760" y="4206240"/>
            <a:ext cx="5120640"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757575"/>
              </a:buClr>
              <a:buSzPts val="900"/>
              <a:buFont typeface="Calibri"/>
              <a:buNone/>
            </a:pPr>
            <a:r>
              <a:rPr lang="en-US" sz="900" b="0" i="1" u="none" strike="noStrike" cap="none">
                <a:solidFill>
                  <a:srgbClr val="757575"/>
                </a:solidFill>
                <a:latin typeface="Calibri"/>
                <a:ea typeface="Calibri"/>
                <a:cs typeface="Calibri"/>
                <a:sym typeface="Calibri"/>
              </a:rPr>
              <a:t>Claude AI (Anthropic) assisting DMIS database analysis — a real session from HIU development work</a:t>
            </a:r>
            <a:endParaRPr sz="900" b="0" i="0" u="none" strike="noStrike" cap="none">
              <a:solidFill>
                <a:schemeClr val="dk1"/>
              </a:solidFill>
              <a:latin typeface="Calibri"/>
              <a:ea typeface="Calibri"/>
              <a:cs typeface="Calibri"/>
              <a:sym typeface="Calibri"/>
            </a:endParaRPr>
          </a:p>
        </p:txBody>
      </p:sp>
      <p:sp>
        <p:nvSpPr>
          <p:cNvPr id="247" name="Google Shape;247;p11"/>
          <p:cNvSpPr/>
          <p:nvPr/>
        </p:nvSpPr>
        <p:spPr>
          <a:xfrm>
            <a:off x="5669280" y="1005840"/>
            <a:ext cx="3108960" cy="3749040"/>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8" name="Google Shape;248;p11" descr="preencoded.png"/>
          <p:cNvPicPr preferRelativeResize="0"/>
          <p:nvPr/>
        </p:nvPicPr>
        <p:blipFill rotWithShape="1">
          <a:blip r:embed="rId4">
            <a:alphaModFix/>
          </a:blip>
          <a:srcRect/>
          <a:stretch/>
        </p:blipFill>
        <p:spPr>
          <a:xfrm>
            <a:off x="5806440" y="1078992"/>
            <a:ext cx="347472" cy="347472"/>
          </a:xfrm>
          <a:prstGeom prst="rect">
            <a:avLst/>
          </a:prstGeom>
          <a:noFill/>
          <a:ln>
            <a:noFill/>
          </a:ln>
        </p:spPr>
      </p:pic>
      <p:sp>
        <p:nvSpPr>
          <p:cNvPr id="249" name="Google Shape;249;p11"/>
          <p:cNvSpPr/>
          <p:nvPr/>
        </p:nvSpPr>
        <p:spPr>
          <a:xfrm>
            <a:off x="6199632" y="1078992"/>
            <a:ext cx="2487168"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38F"/>
              </a:buClr>
              <a:buSzPts val="1200"/>
              <a:buFont typeface="Calibri"/>
              <a:buNone/>
            </a:pPr>
            <a:r>
              <a:rPr lang="en-US" sz="1200" b="1" i="0" u="none" strike="noStrike" cap="none">
                <a:solidFill>
                  <a:srgbClr val="00838F"/>
                </a:solidFill>
                <a:latin typeface="Calibri"/>
                <a:ea typeface="Calibri"/>
                <a:cs typeface="Calibri"/>
                <a:sym typeface="Calibri"/>
              </a:rPr>
              <a:t>AI in HIU's Workflow</a:t>
            </a:r>
            <a:endParaRPr sz="1200" b="0" i="0" u="none" strike="noStrike" cap="none">
              <a:solidFill>
                <a:schemeClr val="dk1"/>
              </a:solidFill>
              <a:latin typeface="Calibri"/>
              <a:ea typeface="Calibri"/>
              <a:cs typeface="Calibri"/>
              <a:sym typeface="Calibri"/>
            </a:endParaRPr>
          </a:p>
        </p:txBody>
      </p:sp>
      <p:sp>
        <p:nvSpPr>
          <p:cNvPr id="250" name="Google Shape;250;p11"/>
          <p:cNvSpPr/>
          <p:nvPr/>
        </p:nvSpPr>
        <p:spPr>
          <a:xfrm>
            <a:off x="5760720" y="1508760"/>
            <a:ext cx="2926080" cy="749808"/>
          </a:xfrm>
          <a:prstGeom prst="rect">
            <a:avLst/>
          </a:prstGeom>
          <a:solidFill>
            <a:srgbClr val="263238"/>
          </a:solidFill>
          <a:ln w="12700" cap="flat" cmpd="sng">
            <a:solidFill>
              <a:srgbClr val="3747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a:off x="5870448" y="1554480"/>
            <a:ext cx="270662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38F"/>
              </a:buClr>
              <a:buSzPts val="1050"/>
              <a:buFont typeface="Calibri"/>
              <a:buNone/>
            </a:pPr>
            <a:r>
              <a:rPr lang="en-US" sz="1050" b="1" i="0" u="none" strike="noStrike" cap="none">
                <a:solidFill>
                  <a:srgbClr val="00838F"/>
                </a:solidFill>
                <a:latin typeface="Calibri"/>
                <a:ea typeface="Calibri"/>
                <a:cs typeface="Calibri"/>
                <a:sym typeface="Calibri"/>
              </a:rPr>
              <a:t>Code Development</a:t>
            </a:r>
            <a:endParaRPr sz="1050" b="0" i="0" u="none" strike="noStrike" cap="none">
              <a:solidFill>
                <a:schemeClr val="dk1"/>
              </a:solidFill>
              <a:latin typeface="Calibri"/>
              <a:ea typeface="Calibri"/>
              <a:cs typeface="Calibri"/>
              <a:sym typeface="Calibri"/>
            </a:endParaRPr>
          </a:p>
        </p:txBody>
      </p:sp>
      <p:sp>
        <p:nvSpPr>
          <p:cNvPr id="252" name="Google Shape;252;p11"/>
          <p:cNvSpPr/>
          <p:nvPr/>
        </p:nvSpPr>
        <p:spPr>
          <a:xfrm>
            <a:off x="5870448" y="1783080"/>
            <a:ext cx="2706624"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0BEC5"/>
              </a:buClr>
              <a:buSzPts val="950"/>
              <a:buFont typeface="Calibri"/>
              <a:buNone/>
            </a:pPr>
            <a:r>
              <a:rPr lang="en-US" sz="950" b="0" i="0" u="none" strike="noStrike" cap="none">
                <a:solidFill>
                  <a:srgbClr val="B0BEC5"/>
                </a:solidFill>
                <a:latin typeface="Calibri"/>
                <a:ea typeface="Calibri"/>
                <a:cs typeface="Calibri"/>
                <a:sym typeface="Calibri"/>
              </a:rPr>
              <a:t>Claude AI assists HIU developers in writing, reviewing, and improving DMIS source code.</a:t>
            </a:r>
            <a:endParaRPr sz="950" b="0" i="0" u="none" strike="noStrike" cap="none">
              <a:solidFill>
                <a:schemeClr val="dk1"/>
              </a:solidFill>
              <a:latin typeface="Calibri"/>
              <a:ea typeface="Calibri"/>
              <a:cs typeface="Calibri"/>
              <a:sym typeface="Calibri"/>
            </a:endParaRPr>
          </a:p>
        </p:txBody>
      </p:sp>
      <p:sp>
        <p:nvSpPr>
          <p:cNvPr id="253" name="Google Shape;253;p11"/>
          <p:cNvSpPr/>
          <p:nvPr/>
        </p:nvSpPr>
        <p:spPr>
          <a:xfrm>
            <a:off x="5760720" y="2331720"/>
            <a:ext cx="2926080" cy="749808"/>
          </a:xfrm>
          <a:prstGeom prst="rect">
            <a:avLst/>
          </a:prstGeom>
          <a:solidFill>
            <a:srgbClr val="263238"/>
          </a:solidFill>
          <a:ln w="12700" cap="flat" cmpd="sng">
            <a:solidFill>
              <a:srgbClr val="3747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1"/>
          <p:cNvSpPr/>
          <p:nvPr/>
        </p:nvSpPr>
        <p:spPr>
          <a:xfrm>
            <a:off x="5870448" y="2377440"/>
            <a:ext cx="270662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38F"/>
              </a:buClr>
              <a:buSzPts val="1050"/>
              <a:buFont typeface="Calibri"/>
              <a:buNone/>
            </a:pPr>
            <a:r>
              <a:rPr lang="en-US" sz="1050" b="1" i="0" u="none" strike="noStrike" cap="none">
                <a:solidFill>
                  <a:srgbClr val="00838F"/>
                </a:solidFill>
                <a:latin typeface="Calibri"/>
                <a:ea typeface="Calibri"/>
                <a:cs typeface="Calibri"/>
                <a:sym typeface="Calibri"/>
              </a:rPr>
              <a:t>Database Analysis</a:t>
            </a:r>
            <a:endParaRPr sz="1050" b="0" i="0" u="none" strike="noStrike" cap="none">
              <a:solidFill>
                <a:schemeClr val="dk1"/>
              </a:solidFill>
              <a:latin typeface="Calibri"/>
              <a:ea typeface="Calibri"/>
              <a:cs typeface="Calibri"/>
              <a:sym typeface="Calibri"/>
            </a:endParaRPr>
          </a:p>
        </p:txBody>
      </p:sp>
      <p:sp>
        <p:nvSpPr>
          <p:cNvPr id="255" name="Google Shape;255;p11"/>
          <p:cNvSpPr/>
          <p:nvPr/>
        </p:nvSpPr>
        <p:spPr>
          <a:xfrm>
            <a:off x="5870448" y="2606040"/>
            <a:ext cx="2706624"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0BEC5"/>
              </a:buClr>
              <a:buSzPts val="950"/>
              <a:buFont typeface="Calibri"/>
              <a:buNone/>
            </a:pPr>
            <a:r>
              <a:rPr lang="en-US" sz="950" b="0" i="0" u="none" strike="noStrike" cap="none">
                <a:solidFill>
                  <a:srgbClr val="B0BEC5"/>
                </a:solidFill>
                <a:latin typeface="Calibri"/>
                <a:ea typeface="Calibri"/>
                <a:cs typeface="Calibri"/>
                <a:sym typeface="Calibri"/>
              </a:rPr>
              <a:t>AI analyses DMIS MySQL data to surface insights, trends, and anomalies rapidly.</a:t>
            </a:r>
            <a:endParaRPr sz="950" b="0" i="0" u="none" strike="noStrike" cap="none">
              <a:solidFill>
                <a:schemeClr val="dk1"/>
              </a:solidFill>
              <a:latin typeface="Calibri"/>
              <a:ea typeface="Calibri"/>
              <a:cs typeface="Calibri"/>
              <a:sym typeface="Calibri"/>
            </a:endParaRPr>
          </a:p>
        </p:txBody>
      </p:sp>
      <p:sp>
        <p:nvSpPr>
          <p:cNvPr id="256" name="Google Shape;256;p11"/>
          <p:cNvSpPr/>
          <p:nvPr/>
        </p:nvSpPr>
        <p:spPr>
          <a:xfrm>
            <a:off x="5760720" y="3154680"/>
            <a:ext cx="2926080" cy="749808"/>
          </a:xfrm>
          <a:prstGeom prst="rect">
            <a:avLst/>
          </a:prstGeom>
          <a:solidFill>
            <a:srgbClr val="263238"/>
          </a:solidFill>
          <a:ln w="12700" cap="flat" cmpd="sng">
            <a:solidFill>
              <a:srgbClr val="3747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a:off x="5870448" y="3200400"/>
            <a:ext cx="270662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38F"/>
              </a:buClr>
              <a:buSzPts val="1050"/>
              <a:buFont typeface="Calibri"/>
              <a:buNone/>
            </a:pPr>
            <a:r>
              <a:rPr lang="en-US" sz="1050" b="1" i="0" u="none" strike="noStrike" cap="none">
                <a:solidFill>
                  <a:srgbClr val="00838F"/>
                </a:solidFill>
                <a:latin typeface="Calibri"/>
                <a:ea typeface="Calibri"/>
                <a:cs typeface="Calibri"/>
                <a:sym typeface="Calibri"/>
              </a:rPr>
              <a:t>Report Generation</a:t>
            </a:r>
            <a:endParaRPr sz="1050" b="0" i="0" u="none" strike="noStrike" cap="none">
              <a:solidFill>
                <a:schemeClr val="dk1"/>
              </a:solidFill>
              <a:latin typeface="Calibri"/>
              <a:ea typeface="Calibri"/>
              <a:cs typeface="Calibri"/>
              <a:sym typeface="Calibri"/>
            </a:endParaRPr>
          </a:p>
        </p:txBody>
      </p:sp>
      <p:sp>
        <p:nvSpPr>
          <p:cNvPr id="258" name="Google Shape;258;p11"/>
          <p:cNvSpPr/>
          <p:nvPr/>
        </p:nvSpPr>
        <p:spPr>
          <a:xfrm>
            <a:off x="5870448" y="3429000"/>
            <a:ext cx="2706624"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0BEC5"/>
              </a:buClr>
              <a:buSzPts val="950"/>
              <a:buFont typeface="Calibri"/>
              <a:buNone/>
            </a:pPr>
            <a:r>
              <a:rPr lang="en-US" sz="950" b="0" i="0" u="none" strike="noStrike" cap="none">
                <a:solidFill>
                  <a:srgbClr val="B0BEC5"/>
                </a:solidFill>
                <a:latin typeface="Calibri"/>
                <a:ea typeface="Calibri"/>
                <a:cs typeface="Calibri"/>
                <a:sym typeface="Calibri"/>
              </a:rPr>
              <a:t>Complex SQL queries and performance reports assisted by AI — faster, fewer errors.</a:t>
            </a:r>
            <a:endParaRPr sz="950" b="0" i="0" u="none" strike="noStrike" cap="none">
              <a:solidFill>
                <a:schemeClr val="dk1"/>
              </a:solidFill>
              <a:latin typeface="Calibri"/>
              <a:ea typeface="Calibri"/>
              <a:cs typeface="Calibri"/>
              <a:sym typeface="Calibri"/>
            </a:endParaRPr>
          </a:p>
        </p:txBody>
      </p:sp>
      <p:sp>
        <p:nvSpPr>
          <p:cNvPr id="259" name="Google Shape;259;p11"/>
          <p:cNvSpPr/>
          <p:nvPr/>
        </p:nvSpPr>
        <p:spPr>
          <a:xfrm>
            <a:off x="5760720" y="3977640"/>
            <a:ext cx="2926080" cy="749808"/>
          </a:xfrm>
          <a:prstGeom prst="rect">
            <a:avLst/>
          </a:prstGeom>
          <a:solidFill>
            <a:srgbClr val="263238"/>
          </a:solidFill>
          <a:ln w="12700" cap="flat" cmpd="sng">
            <a:solidFill>
              <a:srgbClr val="3747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1"/>
          <p:cNvSpPr/>
          <p:nvPr/>
        </p:nvSpPr>
        <p:spPr>
          <a:xfrm>
            <a:off x="5870448" y="4023360"/>
            <a:ext cx="270662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38F"/>
              </a:buClr>
              <a:buSzPts val="1050"/>
              <a:buFont typeface="Calibri"/>
              <a:buNone/>
            </a:pPr>
            <a:r>
              <a:rPr lang="en-US" sz="1050" b="1" i="0" u="none" strike="noStrike" cap="none">
                <a:solidFill>
                  <a:srgbClr val="00838F"/>
                </a:solidFill>
                <a:latin typeface="Calibri"/>
                <a:ea typeface="Calibri"/>
                <a:cs typeface="Calibri"/>
                <a:sym typeface="Calibri"/>
              </a:rPr>
              <a:t>Future: AI Letter Reading</a:t>
            </a:r>
            <a:endParaRPr sz="1050" b="0" i="0" u="none" strike="noStrike" cap="none">
              <a:solidFill>
                <a:schemeClr val="dk1"/>
              </a:solidFill>
              <a:latin typeface="Calibri"/>
              <a:ea typeface="Calibri"/>
              <a:cs typeface="Calibri"/>
              <a:sym typeface="Calibri"/>
            </a:endParaRPr>
          </a:p>
        </p:txBody>
      </p:sp>
      <p:sp>
        <p:nvSpPr>
          <p:cNvPr id="261" name="Google Shape;261;p11"/>
          <p:cNvSpPr/>
          <p:nvPr/>
        </p:nvSpPr>
        <p:spPr>
          <a:xfrm>
            <a:off x="5870448" y="4251960"/>
            <a:ext cx="2706624"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0BEC5"/>
              </a:buClr>
              <a:buSzPts val="950"/>
              <a:buFont typeface="Calibri"/>
              <a:buNone/>
            </a:pPr>
            <a:r>
              <a:rPr lang="en-US" sz="950" b="0" i="0" u="none" strike="noStrike" cap="none">
                <a:solidFill>
                  <a:srgbClr val="B0BEC5"/>
                </a:solidFill>
                <a:latin typeface="Calibri"/>
                <a:ea typeface="Calibri"/>
                <a:cs typeface="Calibri"/>
                <a:sym typeface="Calibri"/>
              </a:rPr>
              <a:t>Under development: AI will scan attached letter images, read content automatically, and pre-fill data for staff confirmation.</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6"/>
        <p:cNvGrpSpPr/>
        <p:nvPr/>
      </p:nvGrpSpPr>
      <p:grpSpPr>
        <a:xfrm>
          <a:off x="0" y="0"/>
          <a:ext cx="0" cy="0"/>
          <a:chOff x="0" y="0"/>
          <a:chExt cx="0" cy="0"/>
        </a:xfrm>
      </p:grpSpPr>
      <p:sp>
        <p:nvSpPr>
          <p:cNvPr id="267" name="Google Shape;267;p12"/>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Who Is Already Using DMIS?</a:t>
            </a:r>
            <a:endParaRPr sz="2600" b="0" i="0" u="none" strike="noStrike" cap="none">
              <a:solidFill>
                <a:schemeClr val="dk1"/>
              </a:solidFill>
              <a:latin typeface="Calibri"/>
              <a:ea typeface="Calibri"/>
              <a:cs typeface="Calibri"/>
              <a:sym typeface="Calibri"/>
            </a:endParaRPr>
          </a:p>
        </p:txBody>
      </p:sp>
      <p:sp>
        <p:nvSpPr>
          <p:cNvPr id="268" name="Google Shape;268;p12"/>
          <p:cNvSpPr/>
          <p:nvPr/>
        </p:nvSpPr>
        <p:spPr>
          <a:xfrm>
            <a:off x="365760" y="658368"/>
            <a:ext cx="8412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57575"/>
              </a:buClr>
              <a:buSzPts val="1300"/>
              <a:buFont typeface="Calibri"/>
              <a:buNone/>
            </a:pPr>
            <a:r>
              <a:rPr lang="en-US" sz="1300" b="0" i="0" u="none" strike="noStrike" cap="none">
                <a:solidFill>
                  <a:srgbClr val="757575"/>
                </a:solidFill>
                <a:latin typeface="Calibri"/>
                <a:ea typeface="Calibri"/>
                <a:cs typeface="Calibri"/>
                <a:sym typeface="Calibri"/>
              </a:rPr>
              <a:t>Suwasiripaya institutions leading the way since 2022</a:t>
            </a:r>
            <a:endParaRPr sz="1300" b="0" i="0" u="none" strike="noStrike" cap="none">
              <a:solidFill>
                <a:schemeClr val="dk1"/>
              </a:solidFill>
              <a:latin typeface="Calibri"/>
              <a:ea typeface="Calibri"/>
              <a:cs typeface="Calibri"/>
              <a:sym typeface="Calibri"/>
            </a:endParaRPr>
          </a:p>
        </p:txBody>
      </p:sp>
      <p:sp>
        <p:nvSpPr>
          <p:cNvPr id="269" name="Google Shape;269;p12"/>
          <p:cNvSpPr/>
          <p:nvPr/>
        </p:nvSpPr>
        <p:spPr>
          <a:xfrm>
            <a:off x="365760" y="8869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2"/>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271" name="Google Shape;271;p12"/>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10</a:t>
            </a:r>
            <a:endParaRPr sz="800" b="0" i="0" u="none" strike="noStrike" cap="none">
              <a:solidFill>
                <a:schemeClr val="dk1"/>
              </a:solidFill>
              <a:latin typeface="Calibri"/>
              <a:ea typeface="Calibri"/>
              <a:cs typeface="Calibri"/>
              <a:sym typeface="Calibri"/>
            </a:endParaRPr>
          </a:p>
        </p:txBody>
      </p:sp>
      <p:sp>
        <p:nvSpPr>
          <p:cNvPr id="272" name="Google Shape;272;p12"/>
          <p:cNvSpPr/>
          <p:nvPr/>
        </p:nvSpPr>
        <p:spPr>
          <a:xfrm>
            <a:off x="365760" y="1005840"/>
            <a:ext cx="8412480" cy="329184"/>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2"/>
          <p:cNvSpPr/>
          <p:nvPr/>
        </p:nvSpPr>
        <p:spPr>
          <a:xfrm>
            <a:off x="502920" y="1024128"/>
            <a:ext cx="50292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Institution</a:t>
            </a:r>
            <a:endParaRPr sz="1100" b="0" i="0" u="none" strike="noStrike" cap="none">
              <a:solidFill>
                <a:schemeClr val="dk1"/>
              </a:solidFill>
              <a:latin typeface="Calibri"/>
              <a:ea typeface="Calibri"/>
              <a:cs typeface="Calibri"/>
              <a:sym typeface="Calibri"/>
            </a:endParaRPr>
          </a:p>
        </p:txBody>
      </p:sp>
      <p:sp>
        <p:nvSpPr>
          <p:cNvPr id="274" name="Google Shape;274;p12"/>
          <p:cNvSpPr/>
          <p:nvPr/>
        </p:nvSpPr>
        <p:spPr>
          <a:xfrm>
            <a:off x="6492240" y="1024128"/>
            <a:ext cx="1188720"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Letters (30d)</a:t>
            </a:r>
            <a:endParaRPr sz="1100" b="0" i="0" u="none" strike="noStrike" cap="none">
              <a:solidFill>
                <a:schemeClr val="dk1"/>
              </a:solidFill>
              <a:latin typeface="Calibri"/>
              <a:ea typeface="Calibri"/>
              <a:cs typeface="Calibri"/>
              <a:sym typeface="Calibri"/>
            </a:endParaRPr>
          </a:p>
        </p:txBody>
      </p:sp>
      <p:sp>
        <p:nvSpPr>
          <p:cNvPr id="275" name="Google Shape;275;p12"/>
          <p:cNvSpPr/>
          <p:nvPr/>
        </p:nvSpPr>
        <p:spPr>
          <a:xfrm>
            <a:off x="365760" y="1335024"/>
            <a:ext cx="8412480" cy="493776"/>
          </a:xfrm>
          <a:prstGeom prst="rect">
            <a:avLst/>
          </a:prstGeom>
          <a:solidFill>
            <a:srgbClr val="F5F7FA"/>
          </a:solidFill>
          <a:ln w="9525" cap="flat" cmpd="sng">
            <a:solidFill>
              <a:srgbClr val="E0E0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2"/>
          <p:cNvSpPr/>
          <p:nvPr/>
        </p:nvSpPr>
        <p:spPr>
          <a:xfrm>
            <a:off x="502920" y="1408176"/>
            <a:ext cx="50292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100"/>
              <a:buFont typeface="Calibri"/>
              <a:buNone/>
            </a:pPr>
            <a:r>
              <a:rPr lang="en-US" sz="1100" b="0" i="0" u="none" strike="noStrike" cap="none">
                <a:solidFill>
                  <a:srgbClr val="212121"/>
                </a:solidFill>
                <a:latin typeface="Calibri"/>
                <a:ea typeface="Calibri"/>
                <a:cs typeface="Calibri"/>
                <a:sym typeface="Calibri"/>
              </a:rPr>
              <a:t>The Office of the Secretary</a:t>
            </a:r>
            <a:endParaRPr sz="1100" b="0" i="0" u="none" strike="noStrike" cap="none">
              <a:solidFill>
                <a:schemeClr val="dk1"/>
              </a:solidFill>
              <a:latin typeface="Calibri"/>
              <a:ea typeface="Calibri"/>
              <a:cs typeface="Calibri"/>
              <a:sym typeface="Calibri"/>
            </a:endParaRPr>
          </a:p>
        </p:txBody>
      </p:sp>
      <p:sp>
        <p:nvSpPr>
          <p:cNvPr id="277" name="Google Shape;277;p12"/>
          <p:cNvSpPr/>
          <p:nvPr/>
        </p:nvSpPr>
        <p:spPr>
          <a:xfrm>
            <a:off x="5532120" y="1463040"/>
            <a:ext cx="2926080" cy="237744"/>
          </a:xfrm>
          <a:prstGeom prst="rect">
            <a:avLst/>
          </a:prstGeom>
          <a:solidFill>
            <a:srgbClr val="E0E0E0"/>
          </a:solidFill>
          <a:ln w="12700" cap="flat" cmpd="sng">
            <a:solidFill>
              <a:srgbClr val="E0E0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2"/>
          <p:cNvSpPr/>
          <p:nvPr/>
        </p:nvSpPr>
        <p:spPr>
          <a:xfrm>
            <a:off x="5532120" y="1463040"/>
            <a:ext cx="2743200" cy="237744"/>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2"/>
          <p:cNvSpPr/>
          <p:nvPr/>
        </p:nvSpPr>
        <p:spPr>
          <a:xfrm>
            <a:off x="8412480" y="1408176"/>
            <a:ext cx="329184" cy="34747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A237E"/>
              </a:buClr>
              <a:buSzPts val="1100"/>
              <a:buFont typeface="Calibri"/>
              <a:buNone/>
            </a:pPr>
            <a:r>
              <a:rPr lang="en-US" sz="1100" b="1" i="0" u="none" strike="noStrike" cap="none">
                <a:solidFill>
                  <a:srgbClr val="1A237E"/>
                </a:solidFill>
                <a:latin typeface="Calibri"/>
                <a:ea typeface="Calibri"/>
                <a:cs typeface="Calibri"/>
                <a:sym typeface="Calibri"/>
              </a:rPr>
              <a:t>2,335</a:t>
            </a:r>
            <a:endParaRPr sz="1100" b="0" i="0" u="none" strike="noStrike" cap="none">
              <a:solidFill>
                <a:schemeClr val="dk1"/>
              </a:solidFill>
              <a:latin typeface="Calibri"/>
              <a:ea typeface="Calibri"/>
              <a:cs typeface="Calibri"/>
              <a:sym typeface="Calibri"/>
            </a:endParaRPr>
          </a:p>
        </p:txBody>
      </p:sp>
      <p:sp>
        <p:nvSpPr>
          <p:cNvPr id="280" name="Google Shape;280;p12"/>
          <p:cNvSpPr/>
          <p:nvPr/>
        </p:nvSpPr>
        <p:spPr>
          <a:xfrm>
            <a:off x="365760" y="1865376"/>
            <a:ext cx="8412480" cy="493776"/>
          </a:xfrm>
          <a:prstGeom prst="rect">
            <a:avLst/>
          </a:prstGeom>
          <a:solidFill>
            <a:srgbClr val="FFFFFF"/>
          </a:solidFill>
          <a:ln w="9525" cap="flat" cmpd="sng">
            <a:solidFill>
              <a:srgbClr val="E0E0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2"/>
          <p:cNvSpPr/>
          <p:nvPr/>
        </p:nvSpPr>
        <p:spPr>
          <a:xfrm>
            <a:off x="502920" y="1938528"/>
            <a:ext cx="50292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100"/>
              <a:buFont typeface="Calibri"/>
              <a:buNone/>
            </a:pPr>
            <a:r>
              <a:rPr lang="en-US" sz="1100" b="0" i="0" u="none" strike="noStrike" cap="none">
                <a:solidFill>
                  <a:srgbClr val="212121"/>
                </a:solidFill>
                <a:latin typeface="Calibri"/>
                <a:ea typeface="Calibri"/>
                <a:cs typeface="Calibri"/>
                <a:sym typeface="Calibri"/>
              </a:rPr>
              <a:t>Office of the Hon. Minister of Health</a:t>
            </a:r>
            <a:endParaRPr sz="1100" b="0" i="0" u="none" strike="noStrike" cap="none">
              <a:solidFill>
                <a:schemeClr val="dk1"/>
              </a:solidFill>
              <a:latin typeface="Calibri"/>
              <a:ea typeface="Calibri"/>
              <a:cs typeface="Calibri"/>
              <a:sym typeface="Calibri"/>
            </a:endParaRPr>
          </a:p>
        </p:txBody>
      </p:sp>
      <p:sp>
        <p:nvSpPr>
          <p:cNvPr id="282" name="Google Shape;282;p12"/>
          <p:cNvSpPr/>
          <p:nvPr/>
        </p:nvSpPr>
        <p:spPr>
          <a:xfrm>
            <a:off x="5532120" y="1993392"/>
            <a:ext cx="2926080" cy="237744"/>
          </a:xfrm>
          <a:prstGeom prst="rect">
            <a:avLst/>
          </a:prstGeom>
          <a:solidFill>
            <a:srgbClr val="E0E0E0"/>
          </a:solidFill>
          <a:ln w="12700" cap="flat" cmpd="sng">
            <a:solidFill>
              <a:srgbClr val="E0E0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2"/>
          <p:cNvSpPr/>
          <p:nvPr/>
        </p:nvSpPr>
        <p:spPr>
          <a:xfrm>
            <a:off x="5532120" y="1993392"/>
            <a:ext cx="521208" cy="237744"/>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2"/>
          <p:cNvSpPr/>
          <p:nvPr/>
        </p:nvSpPr>
        <p:spPr>
          <a:xfrm>
            <a:off x="8412480" y="1938528"/>
            <a:ext cx="329184" cy="34747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A237E"/>
              </a:buClr>
              <a:buSzPts val="1100"/>
              <a:buFont typeface="Calibri"/>
              <a:buNone/>
            </a:pPr>
            <a:r>
              <a:rPr lang="en-US" sz="1100" b="1" i="0" u="none" strike="noStrike" cap="none">
                <a:solidFill>
                  <a:srgbClr val="1A237E"/>
                </a:solidFill>
                <a:latin typeface="Calibri"/>
                <a:ea typeface="Calibri"/>
                <a:cs typeface="Calibri"/>
                <a:sym typeface="Calibri"/>
              </a:rPr>
              <a:t>437</a:t>
            </a:r>
            <a:endParaRPr sz="1100" b="0" i="0" u="none" strike="noStrike" cap="none">
              <a:solidFill>
                <a:schemeClr val="dk1"/>
              </a:solidFill>
              <a:latin typeface="Calibri"/>
              <a:ea typeface="Calibri"/>
              <a:cs typeface="Calibri"/>
              <a:sym typeface="Calibri"/>
            </a:endParaRPr>
          </a:p>
        </p:txBody>
      </p:sp>
      <p:sp>
        <p:nvSpPr>
          <p:cNvPr id="285" name="Google Shape;285;p12"/>
          <p:cNvSpPr/>
          <p:nvPr/>
        </p:nvSpPr>
        <p:spPr>
          <a:xfrm>
            <a:off x="365760" y="2395728"/>
            <a:ext cx="8412480" cy="493776"/>
          </a:xfrm>
          <a:prstGeom prst="rect">
            <a:avLst/>
          </a:prstGeom>
          <a:solidFill>
            <a:srgbClr val="F5F7FA"/>
          </a:solidFill>
          <a:ln w="9525" cap="flat" cmpd="sng">
            <a:solidFill>
              <a:srgbClr val="E0E0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2"/>
          <p:cNvSpPr/>
          <p:nvPr/>
        </p:nvSpPr>
        <p:spPr>
          <a:xfrm>
            <a:off x="502920" y="2468880"/>
            <a:ext cx="50292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100"/>
              <a:buFont typeface="Calibri"/>
              <a:buNone/>
            </a:pPr>
            <a:r>
              <a:rPr lang="en-US" sz="1100" b="0" i="0" u="none" strike="noStrike" cap="none">
                <a:solidFill>
                  <a:srgbClr val="212121"/>
                </a:solidFill>
                <a:latin typeface="Calibri"/>
                <a:ea typeface="Calibri"/>
                <a:cs typeface="Calibri"/>
                <a:sym typeface="Calibri"/>
              </a:rPr>
              <a:t>Health Information Unit</a:t>
            </a:r>
            <a:endParaRPr sz="1100" b="0" i="0" u="none" strike="noStrike" cap="none">
              <a:solidFill>
                <a:schemeClr val="dk1"/>
              </a:solidFill>
              <a:latin typeface="Calibri"/>
              <a:ea typeface="Calibri"/>
              <a:cs typeface="Calibri"/>
              <a:sym typeface="Calibri"/>
            </a:endParaRPr>
          </a:p>
        </p:txBody>
      </p:sp>
      <p:sp>
        <p:nvSpPr>
          <p:cNvPr id="287" name="Google Shape;287;p12"/>
          <p:cNvSpPr/>
          <p:nvPr/>
        </p:nvSpPr>
        <p:spPr>
          <a:xfrm>
            <a:off x="5532120" y="2523744"/>
            <a:ext cx="2926080" cy="237744"/>
          </a:xfrm>
          <a:prstGeom prst="rect">
            <a:avLst/>
          </a:prstGeom>
          <a:solidFill>
            <a:srgbClr val="E0E0E0"/>
          </a:solidFill>
          <a:ln w="12700" cap="flat" cmpd="sng">
            <a:solidFill>
              <a:srgbClr val="E0E0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2"/>
          <p:cNvSpPr/>
          <p:nvPr/>
        </p:nvSpPr>
        <p:spPr>
          <a:xfrm>
            <a:off x="5532120" y="2523744"/>
            <a:ext cx="164592" cy="237744"/>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2"/>
          <p:cNvSpPr/>
          <p:nvPr/>
        </p:nvSpPr>
        <p:spPr>
          <a:xfrm>
            <a:off x="8412480" y="2468880"/>
            <a:ext cx="329184" cy="34747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A237E"/>
              </a:buClr>
              <a:buSzPts val="1100"/>
              <a:buFont typeface="Calibri"/>
              <a:buNone/>
            </a:pPr>
            <a:r>
              <a:rPr lang="en-US" sz="1100" b="1" i="0" u="none" strike="noStrike" cap="none">
                <a:solidFill>
                  <a:srgbClr val="1A237E"/>
                </a:solidFill>
                <a:latin typeface="Calibri"/>
                <a:ea typeface="Calibri"/>
                <a:cs typeface="Calibri"/>
                <a:sym typeface="Calibri"/>
              </a:rPr>
              <a:t>146</a:t>
            </a:r>
            <a:endParaRPr sz="1100" b="0" i="0" u="none" strike="noStrike" cap="none">
              <a:solidFill>
                <a:schemeClr val="dk1"/>
              </a:solidFill>
              <a:latin typeface="Calibri"/>
              <a:ea typeface="Calibri"/>
              <a:cs typeface="Calibri"/>
              <a:sym typeface="Calibri"/>
            </a:endParaRPr>
          </a:p>
        </p:txBody>
      </p:sp>
      <p:sp>
        <p:nvSpPr>
          <p:cNvPr id="290" name="Google Shape;290;p12"/>
          <p:cNvSpPr/>
          <p:nvPr/>
        </p:nvSpPr>
        <p:spPr>
          <a:xfrm>
            <a:off x="365760" y="2926080"/>
            <a:ext cx="8412480" cy="493776"/>
          </a:xfrm>
          <a:prstGeom prst="rect">
            <a:avLst/>
          </a:prstGeom>
          <a:solidFill>
            <a:srgbClr val="FFFFFF"/>
          </a:solidFill>
          <a:ln w="9525" cap="flat" cmpd="sng">
            <a:solidFill>
              <a:srgbClr val="E0E0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2"/>
          <p:cNvSpPr/>
          <p:nvPr/>
        </p:nvSpPr>
        <p:spPr>
          <a:xfrm>
            <a:off x="502920" y="2999232"/>
            <a:ext cx="50292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100"/>
              <a:buFont typeface="Calibri"/>
              <a:buNone/>
            </a:pPr>
            <a:r>
              <a:rPr lang="en-US" sz="1100" b="0" i="0" u="none" strike="noStrike" cap="none">
                <a:solidFill>
                  <a:srgbClr val="212121"/>
                </a:solidFill>
                <a:latin typeface="Calibri"/>
                <a:ea typeface="Calibri"/>
                <a:cs typeface="Calibri"/>
                <a:sym typeface="Calibri"/>
              </a:rPr>
              <a:t>Hon. Deputy Minister's Office</a:t>
            </a:r>
            <a:endParaRPr sz="1100" b="0" i="0" u="none" strike="noStrike" cap="none">
              <a:solidFill>
                <a:schemeClr val="dk1"/>
              </a:solidFill>
              <a:latin typeface="Calibri"/>
              <a:ea typeface="Calibri"/>
              <a:cs typeface="Calibri"/>
              <a:sym typeface="Calibri"/>
            </a:endParaRPr>
          </a:p>
        </p:txBody>
      </p:sp>
      <p:sp>
        <p:nvSpPr>
          <p:cNvPr id="292" name="Google Shape;292;p12"/>
          <p:cNvSpPr/>
          <p:nvPr/>
        </p:nvSpPr>
        <p:spPr>
          <a:xfrm>
            <a:off x="5532120" y="3054096"/>
            <a:ext cx="2926080" cy="237744"/>
          </a:xfrm>
          <a:prstGeom prst="rect">
            <a:avLst/>
          </a:prstGeom>
          <a:solidFill>
            <a:srgbClr val="E0E0E0"/>
          </a:solidFill>
          <a:ln w="12700" cap="flat" cmpd="sng">
            <a:solidFill>
              <a:srgbClr val="E0E0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2"/>
          <p:cNvSpPr/>
          <p:nvPr/>
        </p:nvSpPr>
        <p:spPr>
          <a:xfrm>
            <a:off x="5532120" y="3054096"/>
            <a:ext cx="109728" cy="237744"/>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2"/>
          <p:cNvSpPr/>
          <p:nvPr/>
        </p:nvSpPr>
        <p:spPr>
          <a:xfrm>
            <a:off x="8412480" y="2999232"/>
            <a:ext cx="329184" cy="34747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A237E"/>
              </a:buClr>
              <a:buSzPts val="1100"/>
              <a:buFont typeface="Calibri"/>
              <a:buNone/>
            </a:pPr>
            <a:r>
              <a:rPr lang="en-US" sz="1100" b="1" i="0" u="none" strike="noStrike" cap="none">
                <a:solidFill>
                  <a:srgbClr val="1A237E"/>
                </a:solidFill>
                <a:latin typeface="Calibri"/>
                <a:ea typeface="Calibri"/>
                <a:cs typeface="Calibri"/>
                <a:sym typeface="Calibri"/>
              </a:rPr>
              <a:t>87</a:t>
            </a:r>
            <a:endParaRPr sz="1100" b="0" i="0" u="none" strike="noStrike" cap="none">
              <a:solidFill>
                <a:schemeClr val="dk1"/>
              </a:solidFill>
              <a:latin typeface="Calibri"/>
              <a:ea typeface="Calibri"/>
              <a:cs typeface="Calibri"/>
              <a:sym typeface="Calibri"/>
            </a:endParaRPr>
          </a:p>
        </p:txBody>
      </p:sp>
      <p:sp>
        <p:nvSpPr>
          <p:cNvPr id="295" name="Google Shape;295;p12"/>
          <p:cNvSpPr/>
          <p:nvPr/>
        </p:nvSpPr>
        <p:spPr>
          <a:xfrm>
            <a:off x="365760" y="3456432"/>
            <a:ext cx="8412480" cy="493776"/>
          </a:xfrm>
          <a:prstGeom prst="rect">
            <a:avLst/>
          </a:prstGeom>
          <a:solidFill>
            <a:srgbClr val="F5F7FA"/>
          </a:solidFill>
          <a:ln w="9525" cap="flat" cmpd="sng">
            <a:solidFill>
              <a:srgbClr val="E0E0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2"/>
          <p:cNvSpPr/>
          <p:nvPr/>
        </p:nvSpPr>
        <p:spPr>
          <a:xfrm>
            <a:off x="502920" y="3529584"/>
            <a:ext cx="502920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100"/>
              <a:buFont typeface="Calibri"/>
              <a:buNone/>
            </a:pPr>
            <a:r>
              <a:rPr lang="en-US" sz="1100" b="0" i="0" u="none" strike="noStrike" cap="none">
                <a:solidFill>
                  <a:srgbClr val="212121"/>
                </a:solidFill>
                <a:latin typeface="Calibri"/>
                <a:ea typeface="Calibri"/>
                <a:cs typeface="Calibri"/>
                <a:sym typeface="Calibri"/>
              </a:rPr>
              <a:t>Additional Secretary (Medical Services)</a:t>
            </a:r>
            <a:endParaRPr sz="1100" b="0" i="0" u="none" strike="noStrike" cap="none">
              <a:solidFill>
                <a:schemeClr val="dk1"/>
              </a:solidFill>
              <a:latin typeface="Calibri"/>
              <a:ea typeface="Calibri"/>
              <a:cs typeface="Calibri"/>
              <a:sym typeface="Calibri"/>
            </a:endParaRPr>
          </a:p>
        </p:txBody>
      </p:sp>
      <p:sp>
        <p:nvSpPr>
          <p:cNvPr id="297" name="Google Shape;297;p12"/>
          <p:cNvSpPr/>
          <p:nvPr/>
        </p:nvSpPr>
        <p:spPr>
          <a:xfrm>
            <a:off x="5532120" y="3584448"/>
            <a:ext cx="2926080" cy="237744"/>
          </a:xfrm>
          <a:prstGeom prst="rect">
            <a:avLst/>
          </a:prstGeom>
          <a:solidFill>
            <a:srgbClr val="E0E0E0"/>
          </a:solidFill>
          <a:ln w="12700" cap="flat" cmpd="sng">
            <a:solidFill>
              <a:srgbClr val="E0E0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2"/>
          <p:cNvSpPr/>
          <p:nvPr/>
        </p:nvSpPr>
        <p:spPr>
          <a:xfrm>
            <a:off x="5532120" y="3584448"/>
            <a:ext cx="109728" cy="237744"/>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2"/>
          <p:cNvSpPr/>
          <p:nvPr/>
        </p:nvSpPr>
        <p:spPr>
          <a:xfrm>
            <a:off x="8412480" y="3529584"/>
            <a:ext cx="329184" cy="34747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A237E"/>
              </a:buClr>
              <a:buSzPts val="1100"/>
              <a:buFont typeface="Calibri"/>
              <a:buNone/>
            </a:pPr>
            <a:r>
              <a:rPr lang="en-US" sz="1100" b="1" i="0" u="none" strike="noStrike" cap="none">
                <a:solidFill>
                  <a:srgbClr val="1A237E"/>
                </a:solidFill>
                <a:latin typeface="Calibri"/>
                <a:ea typeface="Calibri"/>
                <a:cs typeface="Calibri"/>
                <a:sym typeface="Calibri"/>
              </a:rPr>
              <a:t>42</a:t>
            </a:r>
            <a:endParaRPr sz="1100" b="0" i="0" u="none" strike="noStrike" cap="none">
              <a:solidFill>
                <a:schemeClr val="dk1"/>
              </a:solidFill>
              <a:latin typeface="Calibri"/>
              <a:ea typeface="Calibri"/>
              <a:cs typeface="Calibri"/>
              <a:sym typeface="Calibri"/>
            </a:endParaRPr>
          </a:p>
        </p:txBody>
      </p:sp>
      <p:sp>
        <p:nvSpPr>
          <p:cNvPr id="300" name="Google Shape;300;p12"/>
          <p:cNvSpPr/>
          <p:nvPr/>
        </p:nvSpPr>
        <p:spPr>
          <a:xfrm>
            <a:off x="365760" y="4023360"/>
            <a:ext cx="8412480" cy="640080"/>
          </a:xfrm>
          <a:prstGeom prst="rect">
            <a:avLst/>
          </a:prstGeom>
          <a:solidFill>
            <a:srgbClr val="E0F2F1"/>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2"/>
          <p:cNvSpPr/>
          <p:nvPr/>
        </p:nvSpPr>
        <p:spPr>
          <a:xfrm>
            <a:off x="502920" y="4087368"/>
            <a:ext cx="8229600" cy="51206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A237E"/>
              </a:buClr>
              <a:buSzPts val="1150"/>
              <a:buFont typeface="Calibri"/>
              <a:buNone/>
            </a:pPr>
            <a:r>
              <a:rPr lang="en-US" sz="1150" b="1" i="0" u="none" strike="noStrike" cap="none">
                <a:solidFill>
                  <a:srgbClr val="1A237E"/>
                </a:solidFill>
                <a:latin typeface="Calibri"/>
                <a:ea typeface="Calibri"/>
                <a:cs typeface="Calibri"/>
                <a:sym typeface="Calibri"/>
              </a:rPr>
              <a:t>Total of 130,778 letters recorded across all time. </a:t>
            </a:r>
            <a:r>
              <a:rPr lang="en-US" sz="1150" b="0" i="0" u="none" strike="noStrike" cap="none">
                <a:solidFill>
                  <a:srgbClr val="212121"/>
                </a:solidFill>
                <a:latin typeface="Calibri"/>
                <a:ea typeface="Calibri"/>
                <a:cs typeface="Calibri"/>
                <a:sym typeface="Calibri"/>
              </a:rPr>
              <a:t>The Secretary's office alone has processed 2,335 letters in the last 30 days through DMIS.</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6"/>
        <p:cNvGrpSpPr/>
        <p:nvPr/>
      </p:nvGrpSpPr>
      <p:grpSpPr>
        <a:xfrm>
          <a:off x="0" y="0"/>
          <a:ext cx="0" cy="0"/>
          <a:chOff x="0" y="0"/>
          <a:chExt cx="0" cy="0"/>
        </a:xfrm>
      </p:grpSpPr>
      <p:sp>
        <p:nvSpPr>
          <p:cNvPr id="307" name="Google Shape;307;p13"/>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Phase 1: Complete Suwasiripaya — Our Immediate Goal</a:t>
            </a:r>
            <a:endParaRPr sz="2600" b="0" i="0" u="none" strike="noStrike" cap="none">
              <a:solidFill>
                <a:schemeClr val="dk1"/>
              </a:solidFill>
              <a:latin typeface="Calibri"/>
              <a:ea typeface="Calibri"/>
              <a:cs typeface="Calibri"/>
              <a:sym typeface="Calibri"/>
            </a:endParaRPr>
          </a:p>
        </p:txBody>
      </p:sp>
      <p:sp>
        <p:nvSpPr>
          <p:cNvPr id="308" name="Google Shape;308;p13"/>
          <p:cNvSpPr/>
          <p:nvPr/>
        </p:nvSpPr>
        <p:spPr>
          <a:xfrm>
            <a:off x="365760" y="6583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3"/>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310" name="Google Shape;310;p13"/>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11</a:t>
            </a:r>
            <a:endParaRPr sz="800" b="0" i="0" u="none" strike="noStrike" cap="none">
              <a:solidFill>
                <a:schemeClr val="dk1"/>
              </a:solidFill>
              <a:latin typeface="Calibri"/>
              <a:ea typeface="Calibri"/>
              <a:cs typeface="Calibri"/>
              <a:sym typeface="Calibri"/>
            </a:endParaRPr>
          </a:p>
        </p:txBody>
      </p:sp>
      <p:sp>
        <p:nvSpPr>
          <p:cNvPr id="311" name="Google Shape;311;p13"/>
          <p:cNvSpPr/>
          <p:nvPr/>
        </p:nvSpPr>
        <p:spPr>
          <a:xfrm>
            <a:off x="365760" y="1005840"/>
            <a:ext cx="5029200" cy="3566160"/>
          </a:xfrm>
          <a:prstGeom prst="rect">
            <a:avLst/>
          </a:prstGeom>
          <a:solidFill>
            <a:srgbClr val="F5F7FA"/>
          </a:solidFill>
          <a:ln w="12700"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3"/>
          <p:cNvSpPr/>
          <p:nvPr/>
        </p:nvSpPr>
        <p:spPr>
          <a:xfrm>
            <a:off x="365760" y="1005840"/>
            <a:ext cx="73152" cy="35661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3"/>
          <p:cNvSpPr/>
          <p:nvPr/>
        </p:nvSpPr>
        <p:spPr>
          <a:xfrm>
            <a:off x="530352" y="1078992"/>
            <a:ext cx="47548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1300"/>
              <a:buFont typeface="Calibri"/>
              <a:buNone/>
            </a:pPr>
            <a:r>
              <a:rPr lang="en-US" sz="1300" b="1" i="0" u="none" strike="noStrike" cap="none">
                <a:solidFill>
                  <a:srgbClr val="1A237E"/>
                </a:solidFill>
                <a:latin typeface="Calibri"/>
                <a:ea typeface="Calibri"/>
                <a:cs typeface="Calibri"/>
                <a:sym typeface="Calibri"/>
              </a:rPr>
              <a:t>Why Connect All of Suwasiripaya First?</a:t>
            </a:r>
            <a:endParaRPr sz="1300" b="0" i="0" u="none" strike="noStrike" cap="none">
              <a:solidFill>
                <a:schemeClr val="dk1"/>
              </a:solidFill>
              <a:latin typeface="Calibri"/>
              <a:ea typeface="Calibri"/>
              <a:cs typeface="Calibri"/>
              <a:sym typeface="Calibri"/>
            </a:endParaRPr>
          </a:p>
        </p:txBody>
      </p:sp>
      <p:sp>
        <p:nvSpPr>
          <p:cNvPr id="314" name="Google Shape;314;p13"/>
          <p:cNvSpPr/>
          <p:nvPr/>
        </p:nvSpPr>
        <p:spPr>
          <a:xfrm>
            <a:off x="530352" y="1417320"/>
            <a:ext cx="4754880" cy="292608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All key directorates, units, and senior officers are in one building</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Inter-unit letter forwarding is a daily activity — DMIS solves this immediately</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Secretary's office is already live since 2022 — the foundation exists</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Senior leadership visibility within the building drives credibility</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When all units are connected, every inter-unit letter has a complete digital record visible to leadership</a:t>
            </a:r>
            <a:endParaRPr sz="1100" b="0" i="0" u="none" strike="noStrike" cap="none">
              <a:solidFill>
                <a:schemeClr val="dk1"/>
              </a:solidFill>
              <a:latin typeface="Calibri"/>
              <a:ea typeface="Calibri"/>
              <a:cs typeface="Calibri"/>
              <a:sym typeface="Calibri"/>
            </a:endParaRPr>
          </a:p>
        </p:txBody>
      </p:sp>
      <p:sp>
        <p:nvSpPr>
          <p:cNvPr id="315" name="Google Shape;315;p13"/>
          <p:cNvSpPr/>
          <p:nvPr/>
        </p:nvSpPr>
        <p:spPr>
          <a:xfrm>
            <a:off x="5577840" y="1005840"/>
            <a:ext cx="3200400" cy="3566160"/>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3"/>
          <p:cNvSpPr/>
          <p:nvPr/>
        </p:nvSpPr>
        <p:spPr>
          <a:xfrm>
            <a:off x="5669280" y="1078992"/>
            <a:ext cx="301752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38F"/>
              </a:buClr>
              <a:buSzPts val="1200"/>
              <a:buFont typeface="Calibri"/>
              <a:buNone/>
            </a:pPr>
            <a:r>
              <a:rPr lang="en-US" sz="1200" b="1" i="0" u="none" strike="noStrike" cap="none">
                <a:solidFill>
                  <a:srgbClr val="00838F"/>
                </a:solidFill>
                <a:latin typeface="Calibri"/>
                <a:ea typeface="Calibri"/>
                <a:cs typeface="Calibri"/>
                <a:sym typeface="Calibri"/>
              </a:rPr>
              <a:t>What We Ask of You Today</a:t>
            </a:r>
            <a:endParaRPr sz="1200" b="0" i="0" u="none" strike="noStrike" cap="none">
              <a:solidFill>
                <a:schemeClr val="dk1"/>
              </a:solidFill>
              <a:latin typeface="Calibri"/>
              <a:ea typeface="Calibri"/>
              <a:cs typeface="Calibri"/>
              <a:sym typeface="Calibri"/>
            </a:endParaRPr>
          </a:p>
        </p:txBody>
      </p:sp>
      <p:sp>
        <p:nvSpPr>
          <p:cNvPr id="317" name="Google Shape;317;p13"/>
          <p:cNvSpPr/>
          <p:nvPr/>
        </p:nvSpPr>
        <p:spPr>
          <a:xfrm>
            <a:off x="5669280" y="1444752"/>
            <a:ext cx="292608" cy="292608"/>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3"/>
          <p:cNvSpPr/>
          <p:nvPr/>
        </p:nvSpPr>
        <p:spPr>
          <a:xfrm>
            <a:off x="5669280" y="1444752"/>
            <a:ext cx="292608" cy="2926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319" name="Google Shape;319;p13"/>
          <p:cNvSpPr/>
          <p:nvPr/>
        </p:nvSpPr>
        <p:spPr>
          <a:xfrm>
            <a:off x="6016752" y="1444752"/>
            <a:ext cx="265176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Direct your unit / directorate to register on DMIS</a:t>
            </a:r>
            <a:endParaRPr sz="1050" b="0" i="0" u="none" strike="noStrike" cap="none">
              <a:solidFill>
                <a:schemeClr val="dk1"/>
              </a:solidFill>
              <a:latin typeface="Calibri"/>
              <a:ea typeface="Calibri"/>
              <a:cs typeface="Calibri"/>
              <a:sym typeface="Calibri"/>
            </a:endParaRPr>
          </a:p>
        </p:txBody>
      </p:sp>
      <p:sp>
        <p:nvSpPr>
          <p:cNvPr id="320" name="Google Shape;320;p13"/>
          <p:cNvSpPr/>
          <p:nvPr/>
        </p:nvSpPr>
        <p:spPr>
          <a:xfrm>
            <a:off x="5669280" y="2194560"/>
            <a:ext cx="292608" cy="292608"/>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3"/>
          <p:cNvSpPr/>
          <p:nvPr/>
        </p:nvSpPr>
        <p:spPr>
          <a:xfrm>
            <a:off x="5669280" y="2194560"/>
            <a:ext cx="292608" cy="2926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322" name="Google Shape;322;p13"/>
          <p:cNvSpPr/>
          <p:nvPr/>
        </p:nvSpPr>
        <p:spPr>
          <a:xfrm>
            <a:off x="6016752" y="2194560"/>
            <a:ext cx="265176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Nominate an Institution Administrator from your team</a:t>
            </a:r>
            <a:endParaRPr sz="1050" b="0" i="0" u="none" strike="noStrike" cap="none">
              <a:solidFill>
                <a:schemeClr val="dk1"/>
              </a:solidFill>
              <a:latin typeface="Calibri"/>
              <a:ea typeface="Calibri"/>
              <a:cs typeface="Calibri"/>
              <a:sym typeface="Calibri"/>
            </a:endParaRPr>
          </a:p>
        </p:txBody>
      </p:sp>
      <p:sp>
        <p:nvSpPr>
          <p:cNvPr id="323" name="Google Shape;323;p13"/>
          <p:cNvSpPr/>
          <p:nvPr/>
        </p:nvSpPr>
        <p:spPr>
          <a:xfrm>
            <a:off x="5669280" y="2944368"/>
            <a:ext cx="292608" cy="292608"/>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3"/>
          <p:cNvSpPr/>
          <p:nvPr/>
        </p:nvSpPr>
        <p:spPr>
          <a:xfrm>
            <a:off x="5669280" y="2944368"/>
            <a:ext cx="292608" cy="2926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325" name="Google Shape;325;p13"/>
          <p:cNvSpPr/>
          <p:nvPr/>
        </p:nvSpPr>
        <p:spPr>
          <a:xfrm>
            <a:off x="6016752" y="2944368"/>
            <a:ext cx="265176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HIU will activate the account and train your staff</a:t>
            </a:r>
            <a:endParaRPr sz="1050" b="0" i="0" u="none" strike="noStrike" cap="none">
              <a:solidFill>
                <a:schemeClr val="dk1"/>
              </a:solidFill>
              <a:latin typeface="Calibri"/>
              <a:ea typeface="Calibri"/>
              <a:cs typeface="Calibri"/>
              <a:sym typeface="Calibri"/>
            </a:endParaRPr>
          </a:p>
        </p:txBody>
      </p:sp>
      <p:sp>
        <p:nvSpPr>
          <p:cNvPr id="326" name="Google Shape;326;p13"/>
          <p:cNvSpPr/>
          <p:nvPr/>
        </p:nvSpPr>
        <p:spPr>
          <a:xfrm>
            <a:off x="5669280" y="3694176"/>
            <a:ext cx="292608" cy="292608"/>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3"/>
          <p:cNvSpPr/>
          <p:nvPr/>
        </p:nvSpPr>
        <p:spPr>
          <a:xfrm>
            <a:off x="5669280" y="3694176"/>
            <a:ext cx="292608" cy="2926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328" name="Google Shape;328;p13"/>
          <p:cNvSpPr/>
          <p:nvPr/>
        </p:nvSpPr>
        <p:spPr>
          <a:xfrm>
            <a:off x="6016752" y="3694176"/>
            <a:ext cx="265176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Begin recording correspondence from Day 1</a:t>
            </a:r>
            <a:endParaRPr sz="1050" b="0" i="0" u="none" strike="noStrike" cap="none">
              <a:solidFill>
                <a:schemeClr val="dk1"/>
              </a:solidFill>
              <a:latin typeface="Calibri"/>
              <a:ea typeface="Calibri"/>
              <a:cs typeface="Calibri"/>
              <a:sym typeface="Calibri"/>
            </a:endParaRPr>
          </a:p>
        </p:txBody>
      </p:sp>
      <p:sp>
        <p:nvSpPr>
          <p:cNvPr id="329" name="Google Shape;329;p13"/>
          <p:cNvSpPr/>
          <p:nvPr/>
        </p:nvSpPr>
        <p:spPr>
          <a:xfrm>
            <a:off x="365760" y="4636008"/>
            <a:ext cx="8412480" cy="347472"/>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3"/>
          <p:cNvSpPr/>
          <p:nvPr/>
        </p:nvSpPr>
        <p:spPr>
          <a:xfrm>
            <a:off x="365760" y="4636008"/>
            <a:ext cx="841248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One request to HIU is all it takes — no procurement, no cost, no delay.</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5"/>
        <p:cNvGrpSpPr/>
        <p:nvPr/>
      </p:nvGrpSpPr>
      <p:grpSpPr>
        <a:xfrm>
          <a:off x="0" y="0"/>
          <a:ext cx="0" cy="0"/>
          <a:chOff x="0" y="0"/>
          <a:chExt cx="0" cy="0"/>
        </a:xfrm>
      </p:grpSpPr>
      <p:sp>
        <p:nvSpPr>
          <p:cNvPr id="336" name="Google Shape;336;p14"/>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From Suwasiripaya to the National Health Network</a:t>
            </a:r>
            <a:endParaRPr sz="2600" b="0" i="0" u="none" strike="noStrike" cap="none">
              <a:solidFill>
                <a:schemeClr val="dk1"/>
              </a:solidFill>
              <a:latin typeface="Calibri"/>
              <a:ea typeface="Calibri"/>
              <a:cs typeface="Calibri"/>
              <a:sym typeface="Calibri"/>
            </a:endParaRPr>
          </a:p>
        </p:txBody>
      </p:sp>
      <p:sp>
        <p:nvSpPr>
          <p:cNvPr id="337" name="Google Shape;337;p14"/>
          <p:cNvSpPr/>
          <p:nvPr/>
        </p:nvSpPr>
        <p:spPr>
          <a:xfrm>
            <a:off x="365760" y="6583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4"/>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339" name="Google Shape;339;p14"/>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12</a:t>
            </a:r>
            <a:endParaRPr sz="800" b="0" i="0" u="none" strike="noStrike" cap="none">
              <a:solidFill>
                <a:schemeClr val="dk1"/>
              </a:solidFill>
              <a:latin typeface="Calibri"/>
              <a:ea typeface="Calibri"/>
              <a:cs typeface="Calibri"/>
              <a:sym typeface="Calibri"/>
            </a:endParaRPr>
          </a:p>
        </p:txBody>
      </p:sp>
      <p:sp>
        <p:nvSpPr>
          <p:cNvPr id="340" name="Google Shape;340;p14"/>
          <p:cNvSpPr/>
          <p:nvPr/>
        </p:nvSpPr>
        <p:spPr>
          <a:xfrm>
            <a:off x="365760" y="1024128"/>
            <a:ext cx="2724912" cy="3730752"/>
          </a:xfrm>
          <a:prstGeom prst="rect">
            <a:avLst/>
          </a:prstGeom>
          <a:solidFill>
            <a:srgbClr val="1A237E"/>
          </a:solidFill>
          <a:ln w="12700" cap="flat" cmpd="sng">
            <a:solidFill>
              <a:srgbClr val="1A237E"/>
            </a:solidFill>
            <a:prstDash val="solid"/>
            <a:round/>
            <a:headEnd type="none" w="sm" len="sm"/>
            <a:tailEnd type="none" w="sm" len="sm"/>
          </a:ln>
          <a:effectLst>
            <a:outerShdw blurRad="76200" dist="38100" dir="8100000" algn="bl" rotWithShape="0">
              <a:srgbClr val="000000">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4"/>
          <p:cNvSpPr/>
          <p:nvPr/>
        </p:nvSpPr>
        <p:spPr>
          <a:xfrm>
            <a:off x="457200" y="1097280"/>
            <a:ext cx="822960" cy="274320"/>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4"/>
          <p:cNvSpPr/>
          <p:nvPr/>
        </p:nvSpPr>
        <p:spPr>
          <a:xfrm>
            <a:off x="457200" y="1097280"/>
            <a:ext cx="82296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PHASE 1</a:t>
            </a:r>
            <a:endParaRPr sz="800" b="0" i="0" u="none" strike="noStrike" cap="none">
              <a:solidFill>
                <a:schemeClr val="dk1"/>
              </a:solidFill>
              <a:latin typeface="Calibri"/>
              <a:ea typeface="Calibri"/>
              <a:cs typeface="Calibri"/>
              <a:sym typeface="Calibri"/>
            </a:endParaRPr>
          </a:p>
        </p:txBody>
      </p:sp>
      <p:sp>
        <p:nvSpPr>
          <p:cNvPr id="343" name="Google Shape;343;p14"/>
          <p:cNvSpPr/>
          <p:nvPr/>
        </p:nvSpPr>
        <p:spPr>
          <a:xfrm>
            <a:off x="1325880" y="1097280"/>
            <a:ext cx="822960" cy="274320"/>
          </a:xfrm>
          <a:prstGeom prst="rect">
            <a:avLst/>
          </a:prstGeom>
          <a:solidFill>
            <a:srgbClr val="334155"/>
          </a:solidFill>
          <a:ln w="12700" cap="flat" cmpd="sng">
            <a:solidFill>
              <a:srgbClr val="4755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4"/>
          <p:cNvSpPr/>
          <p:nvPr/>
        </p:nvSpPr>
        <p:spPr>
          <a:xfrm>
            <a:off x="1325880" y="1097280"/>
            <a:ext cx="82296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NOW</a:t>
            </a:r>
            <a:endParaRPr sz="800" b="0" i="0" u="none" strike="noStrike" cap="none">
              <a:solidFill>
                <a:schemeClr val="dk1"/>
              </a:solidFill>
              <a:latin typeface="Calibri"/>
              <a:ea typeface="Calibri"/>
              <a:cs typeface="Calibri"/>
              <a:sym typeface="Calibri"/>
            </a:endParaRPr>
          </a:p>
        </p:txBody>
      </p:sp>
      <p:sp>
        <p:nvSpPr>
          <p:cNvPr id="345" name="Google Shape;345;p14"/>
          <p:cNvSpPr/>
          <p:nvPr/>
        </p:nvSpPr>
        <p:spPr>
          <a:xfrm>
            <a:off x="475488" y="1444752"/>
            <a:ext cx="2505456"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Ministry Headquarters</a:t>
            </a:r>
            <a:endParaRPr sz="1300" b="0" i="0" u="none" strike="noStrike" cap="none">
              <a:solidFill>
                <a:schemeClr val="dk1"/>
              </a:solidFill>
              <a:latin typeface="Calibri"/>
              <a:ea typeface="Calibri"/>
              <a:cs typeface="Calibri"/>
              <a:sym typeface="Calibri"/>
            </a:endParaRPr>
          </a:p>
        </p:txBody>
      </p:sp>
      <p:sp>
        <p:nvSpPr>
          <p:cNvPr id="346" name="Google Shape;346;p14"/>
          <p:cNvSpPr/>
          <p:nvPr/>
        </p:nvSpPr>
        <p:spPr>
          <a:xfrm>
            <a:off x="475488" y="1920240"/>
            <a:ext cx="2505456" cy="56692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100"/>
              <a:buFont typeface="Calibri"/>
              <a:buChar char="•"/>
            </a:pPr>
            <a:r>
              <a:rPr lang="en-US" sz="1100" b="0" i="0" u="none" strike="noStrike" cap="none">
                <a:solidFill>
                  <a:srgbClr val="FFFFFF"/>
                </a:solidFill>
                <a:latin typeface="Calibri"/>
                <a:ea typeface="Calibri"/>
                <a:cs typeface="Calibri"/>
                <a:sym typeface="Calibri"/>
              </a:rPr>
              <a:t>All directorates &amp; units</a:t>
            </a:r>
            <a:endParaRPr sz="1100" b="0" i="0" u="none" strike="noStrike" cap="none">
              <a:solidFill>
                <a:schemeClr val="dk1"/>
              </a:solidFill>
              <a:latin typeface="Calibri"/>
              <a:ea typeface="Calibri"/>
              <a:cs typeface="Calibri"/>
              <a:sym typeface="Calibri"/>
            </a:endParaRPr>
          </a:p>
        </p:txBody>
      </p:sp>
      <p:sp>
        <p:nvSpPr>
          <p:cNvPr id="347" name="Google Shape;347;p14"/>
          <p:cNvSpPr/>
          <p:nvPr/>
        </p:nvSpPr>
        <p:spPr>
          <a:xfrm>
            <a:off x="475488" y="2542032"/>
            <a:ext cx="2505456" cy="56692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100"/>
              <a:buFont typeface="Calibri"/>
              <a:buChar char="•"/>
            </a:pPr>
            <a:r>
              <a:rPr lang="en-US" sz="1100" b="0" i="0" u="none" strike="noStrike" cap="none">
                <a:solidFill>
                  <a:srgbClr val="FFFFFF"/>
                </a:solidFill>
                <a:latin typeface="Calibri"/>
                <a:ea typeface="Calibri"/>
                <a:cs typeface="Calibri"/>
                <a:sym typeface="Calibri"/>
              </a:rPr>
              <a:t>All offices within Suwasiripaya</a:t>
            </a:r>
            <a:endParaRPr sz="1100" b="0" i="0" u="none" strike="noStrike" cap="none">
              <a:solidFill>
                <a:schemeClr val="dk1"/>
              </a:solidFill>
              <a:latin typeface="Calibri"/>
              <a:ea typeface="Calibri"/>
              <a:cs typeface="Calibri"/>
              <a:sym typeface="Calibri"/>
            </a:endParaRPr>
          </a:p>
        </p:txBody>
      </p:sp>
      <p:sp>
        <p:nvSpPr>
          <p:cNvPr id="348" name="Google Shape;348;p14"/>
          <p:cNvSpPr/>
          <p:nvPr/>
        </p:nvSpPr>
        <p:spPr>
          <a:xfrm>
            <a:off x="475488" y="3163824"/>
            <a:ext cx="2505456" cy="56692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100"/>
              <a:buFont typeface="Calibri"/>
              <a:buChar char="•"/>
            </a:pPr>
            <a:r>
              <a:rPr lang="en-US" sz="1100" b="0" i="0" u="none" strike="noStrike" cap="none">
                <a:solidFill>
                  <a:srgbClr val="FFFFFF"/>
                </a:solidFill>
                <a:latin typeface="Calibri"/>
                <a:ea typeface="Calibri"/>
                <a:cs typeface="Calibri"/>
                <a:sym typeface="Calibri"/>
              </a:rPr>
              <a:t>Foundation &amp; leadership visibility</a:t>
            </a:r>
            <a:endParaRPr sz="1100" b="0" i="0" u="none" strike="noStrike" cap="none">
              <a:solidFill>
                <a:schemeClr val="dk1"/>
              </a:solidFill>
              <a:latin typeface="Calibri"/>
              <a:ea typeface="Calibri"/>
              <a:cs typeface="Calibri"/>
              <a:sym typeface="Calibri"/>
            </a:endParaRPr>
          </a:p>
        </p:txBody>
      </p:sp>
      <p:sp>
        <p:nvSpPr>
          <p:cNvPr id="349" name="Google Shape;349;p14"/>
          <p:cNvSpPr/>
          <p:nvPr/>
        </p:nvSpPr>
        <p:spPr>
          <a:xfrm>
            <a:off x="475488" y="3785616"/>
            <a:ext cx="2505456" cy="56692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100"/>
              <a:buFont typeface="Calibri"/>
              <a:buChar char="•"/>
            </a:pPr>
            <a:r>
              <a:rPr lang="en-US" sz="1100" b="0" i="0" u="none" strike="noStrike" cap="none">
                <a:solidFill>
                  <a:srgbClr val="FFFFFF"/>
                </a:solidFill>
                <a:latin typeface="Calibri"/>
                <a:ea typeface="Calibri"/>
                <a:cs typeface="Calibri"/>
                <a:sym typeface="Calibri"/>
              </a:rPr>
              <a:t>Secretary's office already live</a:t>
            </a:r>
            <a:endParaRPr sz="1100" b="0" i="0" u="none" strike="noStrike" cap="none">
              <a:solidFill>
                <a:schemeClr val="dk1"/>
              </a:solidFill>
              <a:latin typeface="Calibri"/>
              <a:ea typeface="Calibri"/>
              <a:cs typeface="Calibri"/>
              <a:sym typeface="Calibri"/>
            </a:endParaRPr>
          </a:p>
        </p:txBody>
      </p:sp>
      <p:pic>
        <p:nvPicPr>
          <p:cNvPr id="350" name="Google Shape;350;p14" descr="preencoded.png"/>
          <p:cNvPicPr preferRelativeResize="0"/>
          <p:nvPr/>
        </p:nvPicPr>
        <p:blipFill rotWithShape="1">
          <a:blip r:embed="rId3">
            <a:alphaModFix/>
          </a:blip>
          <a:srcRect/>
          <a:stretch/>
        </p:blipFill>
        <p:spPr>
          <a:xfrm>
            <a:off x="3108960" y="2606040"/>
            <a:ext cx="109728" cy="164592"/>
          </a:xfrm>
          <a:prstGeom prst="rect">
            <a:avLst/>
          </a:prstGeom>
          <a:noFill/>
          <a:ln>
            <a:noFill/>
          </a:ln>
        </p:spPr>
      </p:pic>
      <p:sp>
        <p:nvSpPr>
          <p:cNvPr id="351" name="Google Shape;351;p14"/>
          <p:cNvSpPr/>
          <p:nvPr/>
        </p:nvSpPr>
        <p:spPr>
          <a:xfrm>
            <a:off x="3236976" y="1024128"/>
            <a:ext cx="2724912" cy="3730752"/>
          </a:xfrm>
          <a:prstGeom prst="rect">
            <a:avLst/>
          </a:prstGeom>
          <a:solidFill>
            <a:srgbClr val="00838F"/>
          </a:solidFill>
          <a:ln w="12700" cap="flat" cmpd="sng">
            <a:solidFill>
              <a:srgbClr val="00838F"/>
            </a:solidFill>
            <a:prstDash val="solid"/>
            <a:round/>
            <a:headEnd type="none" w="sm" len="sm"/>
            <a:tailEnd type="none" w="sm" len="sm"/>
          </a:ln>
          <a:effectLst>
            <a:outerShdw blurRad="76200" dist="38100" dir="8100000" algn="bl" rotWithShape="0">
              <a:srgbClr val="000000">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4"/>
          <p:cNvSpPr/>
          <p:nvPr/>
        </p:nvSpPr>
        <p:spPr>
          <a:xfrm>
            <a:off x="3328416" y="1097280"/>
            <a:ext cx="822960" cy="274320"/>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4"/>
          <p:cNvSpPr/>
          <p:nvPr/>
        </p:nvSpPr>
        <p:spPr>
          <a:xfrm>
            <a:off x="3328416" y="1097280"/>
            <a:ext cx="82296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PHASE 2</a:t>
            </a:r>
            <a:endParaRPr sz="800" b="0" i="0" u="none" strike="noStrike" cap="none">
              <a:solidFill>
                <a:schemeClr val="dk1"/>
              </a:solidFill>
              <a:latin typeface="Calibri"/>
              <a:ea typeface="Calibri"/>
              <a:cs typeface="Calibri"/>
              <a:sym typeface="Calibri"/>
            </a:endParaRPr>
          </a:p>
        </p:txBody>
      </p:sp>
      <p:sp>
        <p:nvSpPr>
          <p:cNvPr id="354" name="Google Shape;354;p14"/>
          <p:cNvSpPr/>
          <p:nvPr/>
        </p:nvSpPr>
        <p:spPr>
          <a:xfrm>
            <a:off x="4197096" y="1097280"/>
            <a:ext cx="822960" cy="274320"/>
          </a:xfrm>
          <a:prstGeom prst="rect">
            <a:avLst/>
          </a:prstGeom>
          <a:solidFill>
            <a:srgbClr val="334155"/>
          </a:solidFill>
          <a:ln w="12700" cap="flat" cmpd="sng">
            <a:solidFill>
              <a:srgbClr val="4755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4"/>
          <p:cNvSpPr/>
          <p:nvPr/>
        </p:nvSpPr>
        <p:spPr>
          <a:xfrm>
            <a:off x="4197096" y="1097280"/>
            <a:ext cx="82296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NEXT</a:t>
            </a:r>
            <a:endParaRPr sz="800" b="0" i="0" u="none" strike="noStrike" cap="none">
              <a:solidFill>
                <a:schemeClr val="dk1"/>
              </a:solidFill>
              <a:latin typeface="Calibri"/>
              <a:ea typeface="Calibri"/>
              <a:cs typeface="Calibri"/>
              <a:sym typeface="Calibri"/>
            </a:endParaRPr>
          </a:p>
        </p:txBody>
      </p:sp>
      <p:sp>
        <p:nvSpPr>
          <p:cNvPr id="356" name="Google Shape;356;p14"/>
          <p:cNvSpPr/>
          <p:nvPr/>
        </p:nvSpPr>
        <p:spPr>
          <a:xfrm>
            <a:off x="3346704" y="1444752"/>
            <a:ext cx="2505456"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Provincial &amp; District</a:t>
            </a:r>
            <a:endParaRPr sz="1300" b="0" i="0" u="none" strike="noStrike" cap="none">
              <a:solidFill>
                <a:schemeClr val="dk1"/>
              </a:solidFill>
              <a:latin typeface="Calibri"/>
              <a:ea typeface="Calibri"/>
              <a:cs typeface="Calibri"/>
              <a:sym typeface="Calibri"/>
            </a:endParaRPr>
          </a:p>
        </p:txBody>
      </p:sp>
      <p:sp>
        <p:nvSpPr>
          <p:cNvPr id="357" name="Google Shape;357;p14"/>
          <p:cNvSpPr/>
          <p:nvPr/>
        </p:nvSpPr>
        <p:spPr>
          <a:xfrm>
            <a:off x="3346704" y="1920240"/>
            <a:ext cx="2505456" cy="56692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100"/>
              <a:buFont typeface="Calibri"/>
              <a:buChar char="•"/>
            </a:pPr>
            <a:r>
              <a:rPr lang="en-US" sz="1100" b="0" i="0" u="none" strike="noStrike" cap="none">
                <a:solidFill>
                  <a:srgbClr val="FFFFFF"/>
                </a:solidFill>
                <a:latin typeface="Calibri"/>
                <a:ea typeface="Calibri"/>
                <a:cs typeface="Calibri"/>
                <a:sym typeface="Calibri"/>
              </a:rPr>
              <a:t>Provincial Ministry offices</a:t>
            </a:r>
            <a:endParaRPr sz="1100" b="0" i="0" u="none" strike="noStrike" cap="none">
              <a:solidFill>
                <a:schemeClr val="dk1"/>
              </a:solidFill>
              <a:latin typeface="Calibri"/>
              <a:ea typeface="Calibri"/>
              <a:cs typeface="Calibri"/>
              <a:sym typeface="Calibri"/>
            </a:endParaRPr>
          </a:p>
        </p:txBody>
      </p:sp>
      <p:sp>
        <p:nvSpPr>
          <p:cNvPr id="358" name="Google Shape;358;p14"/>
          <p:cNvSpPr/>
          <p:nvPr/>
        </p:nvSpPr>
        <p:spPr>
          <a:xfrm>
            <a:off x="3346704" y="2542032"/>
            <a:ext cx="2505456" cy="56692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100"/>
              <a:buFont typeface="Calibri"/>
              <a:buChar char="•"/>
            </a:pPr>
            <a:r>
              <a:rPr lang="en-US" sz="1100" b="0" i="0" u="none" strike="noStrike" cap="none">
                <a:solidFill>
                  <a:srgbClr val="FFFFFF"/>
                </a:solidFill>
                <a:latin typeface="Calibri"/>
                <a:ea typeface="Calibri"/>
                <a:cs typeface="Calibri"/>
                <a:sym typeface="Calibri"/>
              </a:rPr>
              <a:t>RDHS offices</a:t>
            </a:r>
            <a:endParaRPr sz="1100" b="0" i="0" u="none" strike="noStrike" cap="none">
              <a:solidFill>
                <a:schemeClr val="dk1"/>
              </a:solidFill>
              <a:latin typeface="Calibri"/>
              <a:ea typeface="Calibri"/>
              <a:cs typeface="Calibri"/>
              <a:sym typeface="Calibri"/>
            </a:endParaRPr>
          </a:p>
        </p:txBody>
      </p:sp>
      <p:sp>
        <p:nvSpPr>
          <p:cNvPr id="359" name="Google Shape;359;p14"/>
          <p:cNvSpPr/>
          <p:nvPr/>
        </p:nvSpPr>
        <p:spPr>
          <a:xfrm>
            <a:off x="3346704" y="3163824"/>
            <a:ext cx="2505456" cy="56692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100"/>
              <a:buFont typeface="Calibri"/>
              <a:buChar char="•"/>
            </a:pPr>
            <a:r>
              <a:rPr lang="en-US" sz="1100" b="0" i="0" u="none" strike="noStrike" cap="none">
                <a:solidFill>
                  <a:srgbClr val="FFFFFF"/>
                </a:solidFill>
                <a:latin typeface="Calibri"/>
                <a:ea typeface="Calibri"/>
                <a:cs typeface="Calibri"/>
                <a:sym typeface="Calibri"/>
              </a:rPr>
              <a:t>District hospitals</a:t>
            </a:r>
            <a:endParaRPr sz="1100" b="0" i="0" u="none" strike="noStrike" cap="none">
              <a:solidFill>
                <a:schemeClr val="dk1"/>
              </a:solidFill>
              <a:latin typeface="Calibri"/>
              <a:ea typeface="Calibri"/>
              <a:cs typeface="Calibri"/>
              <a:sym typeface="Calibri"/>
            </a:endParaRPr>
          </a:p>
        </p:txBody>
      </p:sp>
      <p:sp>
        <p:nvSpPr>
          <p:cNvPr id="360" name="Google Shape;360;p14"/>
          <p:cNvSpPr/>
          <p:nvPr/>
        </p:nvSpPr>
        <p:spPr>
          <a:xfrm>
            <a:off x="3346704" y="3785616"/>
            <a:ext cx="2505456" cy="56692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100"/>
              <a:buFont typeface="Calibri"/>
              <a:buChar char="•"/>
            </a:pPr>
            <a:r>
              <a:rPr lang="en-US" sz="1100" b="0" i="0" u="none" strike="noStrike" cap="none">
                <a:solidFill>
                  <a:srgbClr val="FFFFFF"/>
                </a:solidFill>
                <a:latin typeface="Calibri"/>
                <a:ea typeface="Calibri"/>
                <a:cs typeface="Calibri"/>
                <a:sym typeface="Calibri"/>
              </a:rPr>
              <a:t>MOH offices</a:t>
            </a:r>
            <a:endParaRPr sz="1100" b="0" i="0" u="none" strike="noStrike" cap="none">
              <a:solidFill>
                <a:schemeClr val="dk1"/>
              </a:solidFill>
              <a:latin typeface="Calibri"/>
              <a:ea typeface="Calibri"/>
              <a:cs typeface="Calibri"/>
              <a:sym typeface="Calibri"/>
            </a:endParaRPr>
          </a:p>
        </p:txBody>
      </p:sp>
      <p:pic>
        <p:nvPicPr>
          <p:cNvPr id="361" name="Google Shape;361;p14" descr="preencoded.png"/>
          <p:cNvPicPr preferRelativeResize="0"/>
          <p:nvPr/>
        </p:nvPicPr>
        <p:blipFill rotWithShape="1">
          <a:blip r:embed="rId3">
            <a:alphaModFix/>
          </a:blip>
          <a:srcRect/>
          <a:stretch/>
        </p:blipFill>
        <p:spPr>
          <a:xfrm>
            <a:off x="5980176" y="2606040"/>
            <a:ext cx="109728" cy="164592"/>
          </a:xfrm>
          <a:prstGeom prst="rect">
            <a:avLst/>
          </a:prstGeom>
          <a:noFill/>
          <a:ln>
            <a:noFill/>
          </a:ln>
        </p:spPr>
      </p:pic>
      <p:sp>
        <p:nvSpPr>
          <p:cNvPr id="362" name="Google Shape;362;p14"/>
          <p:cNvSpPr/>
          <p:nvPr/>
        </p:nvSpPr>
        <p:spPr>
          <a:xfrm>
            <a:off x="6108192" y="1024128"/>
            <a:ext cx="2724912" cy="3730752"/>
          </a:xfrm>
          <a:prstGeom prst="rect">
            <a:avLst/>
          </a:prstGeom>
          <a:solidFill>
            <a:srgbClr val="2E7D32"/>
          </a:solidFill>
          <a:ln w="12700" cap="flat" cmpd="sng">
            <a:solidFill>
              <a:srgbClr val="2E7D32"/>
            </a:solidFill>
            <a:prstDash val="solid"/>
            <a:round/>
            <a:headEnd type="none" w="sm" len="sm"/>
            <a:tailEnd type="none" w="sm" len="sm"/>
          </a:ln>
          <a:effectLst>
            <a:outerShdw blurRad="76200" dist="38100" dir="8100000" algn="bl" rotWithShape="0">
              <a:srgbClr val="000000">
                <a:alpha val="18039"/>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4"/>
          <p:cNvSpPr/>
          <p:nvPr/>
        </p:nvSpPr>
        <p:spPr>
          <a:xfrm>
            <a:off x="6199632" y="1097280"/>
            <a:ext cx="822960" cy="274320"/>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4"/>
          <p:cNvSpPr/>
          <p:nvPr/>
        </p:nvSpPr>
        <p:spPr>
          <a:xfrm>
            <a:off x="6199632" y="1097280"/>
            <a:ext cx="82296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PHASE 3</a:t>
            </a:r>
            <a:endParaRPr sz="800" b="0" i="0" u="none" strike="noStrike" cap="none">
              <a:solidFill>
                <a:schemeClr val="dk1"/>
              </a:solidFill>
              <a:latin typeface="Calibri"/>
              <a:ea typeface="Calibri"/>
              <a:cs typeface="Calibri"/>
              <a:sym typeface="Calibri"/>
            </a:endParaRPr>
          </a:p>
        </p:txBody>
      </p:sp>
      <p:sp>
        <p:nvSpPr>
          <p:cNvPr id="365" name="Google Shape;365;p14"/>
          <p:cNvSpPr/>
          <p:nvPr/>
        </p:nvSpPr>
        <p:spPr>
          <a:xfrm>
            <a:off x="7068312" y="1097280"/>
            <a:ext cx="822960" cy="274320"/>
          </a:xfrm>
          <a:prstGeom prst="rect">
            <a:avLst/>
          </a:prstGeom>
          <a:solidFill>
            <a:srgbClr val="334155"/>
          </a:solidFill>
          <a:ln w="12700" cap="flat" cmpd="sng">
            <a:solidFill>
              <a:srgbClr val="4755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4"/>
          <p:cNvSpPr/>
          <p:nvPr/>
        </p:nvSpPr>
        <p:spPr>
          <a:xfrm>
            <a:off x="7068312" y="1097280"/>
            <a:ext cx="82296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FUTURE</a:t>
            </a:r>
            <a:endParaRPr sz="800" b="0" i="0" u="none" strike="noStrike" cap="none">
              <a:solidFill>
                <a:schemeClr val="dk1"/>
              </a:solidFill>
              <a:latin typeface="Calibri"/>
              <a:ea typeface="Calibri"/>
              <a:cs typeface="Calibri"/>
              <a:sym typeface="Calibri"/>
            </a:endParaRPr>
          </a:p>
        </p:txBody>
      </p:sp>
      <p:sp>
        <p:nvSpPr>
          <p:cNvPr id="367" name="Google Shape;367;p14"/>
          <p:cNvSpPr/>
          <p:nvPr/>
        </p:nvSpPr>
        <p:spPr>
          <a:xfrm>
            <a:off x="6217920" y="1444752"/>
            <a:ext cx="2505456"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Full Health System</a:t>
            </a:r>
            <a:endParaRPr sz="1300" b="0" i="0" u="none" strike="noStrike" cap="none">
              <a:solidFill>
                <a:schemeClr val="dk1"/>
              </a:solidFill>
              <a:latin typeface="Calibri"/>
              <a:ea typeface="Calibri"/>
              <a:cs typeface="Calibri"/>
              <a:sym typeface="Calibri"/>
            </a:endParaRPr>
          </a:p>
        </p:txBody>
      </p:sp>
      <p:sp>
        <p:nvSpPr>
          <p:cNvPr id="368" name="Google Shape;368;p14"/>
          <p:cNvSpPr/>
          <p:nvPr/>
        </p:nvSpPr>
        <p:spPr>
          <a:xfrm>
            <a:off x="6217920" y="1920240"/>
            <a:ext cx="2505456" cy="56692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100"/>
              <a:buFont typeface="Calibri"/>
              <a:buChar char="•"/>
            </a:pPr>
            <a:r>
              <a:rPr lang="en-US" sz="1100" b="0" i="0" u="none" strike="noStrike" cap="none">
                <a:solidFill>
                  <a:srgbClr val="FFFFFF"/>
                </a:solidFill>
                <a:latin typeface="Calibri"/>
                <a:ea typeface="Calibri"/>
                <a:cs typeface="Calibri"/>
                <a:sym typeface="Calibri"/>
              </a:rPr>
              <a:t>Teaching &amp; base hospitals</a:t>
            </a:r>
            <a:endParaRPr sz="1100" b="0" i="0" u="none" strike="noStrike" cap="none">
              <a:solidFill>
                <a:schemeClr val="dk1"/>
              </a:solidFill>
              <a:latin typeface="Calibri"/>
              <a:ea typeface="Calibri"/>
              <a:cs typeface="Calibri"/>
              <a:sym typeface="Calibri"/>
            </a:endParaRPr>
          </a:p>
        </p:txBody>
      </p:sp>
      <p:sp>
        <p:nvSpPr>
          <p:cNvPr id="369" name="Google Shape;369;p14"/>
          <p:cNvSpPr/>
          <p:nvPr/>
        </p:nvSpPr>
        <p:spPr>
          <a:xfrm>
            <a:off x="6217920" y="2542032"/>
            <a:ext cx="2505456" cy="56692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100"/>
              <a:buFont typeface="Calibri"/>
              <a:buChar char="•"/>
            </a:pPr>
            <a:r>
              <a:rPr lang="en-US" sz="1100" b="0" i="0" u="none" strike="noStrike" cap="none">
                <a:solidFill>
                  <a:srgbClr val="FFFFFF"/>
                </a:solidFill>
                <a:latin typeface="Calibri"/>
                <a:ea typeface="Calibri"/>
                <a:cs typeface="Calibri"/>
                <a:sym typeface="Calibri"/>
              </a:rPr>
              <a:t>National programmes &amp; campaigns</a:t>
            </a:r>
            <a:endParaRPr sz="1100" b="0" i="0" u="none" strike="noStrike" cap="none">
              <a:solidFill>
                <a:schemeClr val="dk1"/>
              </a:solidFill>
              <a:latin typeface="Calibri"/>
              <a:ea typeface="Calibri"/>
              <a:cs typeface="Calibri"/>
              <a:sym typeface="Calibri"/>
            </a:endParaRPr>
          </a:p>
        </p:txBody>
      </p:sp>
      <p:sp>
        <p:nvSpPr>
          <p:cNvPr id="370" name="Google Shape;370;p14"/>
          <p:cNvSpPr/>
          <p:nvPr/>
        </p:nvSpPr>
        <p:spPr>
          <a:xfrm>
            <a:off x="6217920" y="3163824"/>
            <a:ext cx="2505456" cy="56692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100"/>
              <a:buFont typeface="Calibri"/>
              <a:buChar char="•"/>
            </a:pPr>
            <a:r>
              <a:rPr lang="en-US" sz="1100" b="0" i="0" u="none" strike="noStrike" cap="none">
                <a:solidFill>
                  <a:srgbClr val="FFFFFF"/>
                </a:solidFill>
                <a:latin typeface="Calibri"/>
                <a:ea typeface="Calibri"/>
                <a:cs typeface="Calibri"/>
                <a:sym typeface="Calibri"/>
              </a:rPr>
              <a:t>Primary health care centres</a:t>
            </a:r>
            <a:endParaRPr sz="1100" b="0" i="0" u="none" strike="noStrike" cap="none">
              <a:solidFill>
                <a:schemeClr val="dk1"/>
              </a:solidFill>
              <a:latin typeface="Calibri"/>
              <a:ea typeface="Calibri"/>
              <a:cs typeface="Calibri"/>
              <a:sym typeface="Calibri"/>
            </a:endParaRPr>
          </a:p>
        </p:txBody>
      </p:sp>
      <p:sp>
        <p:nvSpPr>
          <p:cNvPr id="371" name="Google Shape;371;p14"/>
          <p:cNvSpPr/>
          <p:nvPr/>
        </p:nvSpPr>
        <p:spPr>
          <a:xfrm>
            <a:off x="6217920" y="3785616"/>
            <a:ext cx="2505456" cy="566928"/>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FFFFFF"/>
              </a:buClr>
              <a:buSzPts val="1100"/>
              <a:buFont typeface="Calibri"/>
              <a:buChar char="•"/>
            </a:pPr>
            <a:r>
              <a:rPr lang="en-US" sz="1100" b="0" i="0" u="none" strike="noStrike" cap="none">
                <a:solidFill>
                  <a:srgbClr val="FFFFFF"/>
                </a:solidFill>
                <a:latin typeface="Calibri"/>
                <a:ea typeface="Calibri"/>
                <a:cs typeface="Calibri"/>
                <a:sym typeface="Calibri"/>
              </a:rPr>
              <a:t>All health institutions nationwide</a:t>
            </a:r>
            <a:endParaRPr sz="1100" b="0" i="0" u="none" strike="noStrike" cap="none">
              <a:solidFill>
                <a:schemeClr val="dk1"/>
              </a:solidFill>
              <a:latin typeface="Calibri"/>
              <a:ea typeface="Calibri"/>
              <a:cs typeface="Calibri"/>
              <a:sym typeface="Calibri"/>
            </a:endParaRPr>
          </a:p>
        </p:txBody>
      </p:sp>
      <p:sp>
        <p:nvSpPr>
          <p:cNvPr id="372" name="Google Shape;372;p14"/>
          <p:cNvSpPr/>
          <p:nvPr/>
        </p:nvSpPr>
        <p:spPr>
          <a:xfrm>
            <a:off x="365760" y="4800600"/>
            <a:ext cx="8412480" cy="347472"/>
          </a:xfrm>
          <a:prstGeom prst="rect">
            <a:avLst/>
          </a:prstGeom>
          <a:solidFill>
            <a:srgbClr val="ECEFF1"/>
          </a:solidFill>
          <a:ln w="12700"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4"/>
          <p:cNvSpPr/>
          <p:nvPr/>
        </p:nvSpPr>
        <p:spPr>
          <a:xfrm>
            <a:off x="457200" y="4828032"/>
            <a:ext cx="8229600" cy="2926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237E"/>
              </a:buClr>
              <a:buSzPts val="1150"/>
              <a:buFont typeface="Calibri"/>
              <a:buNone/>
            </a:pPr>
            <a:r>
              <a:rPr lang="en-US" sz="1150" b="0" i="1" u="none" strike="noStrike" cap="none">
                <a:solidFill>
                  <a:srgbClr val="1A237E"/>
                </a:solidFill>
                <a:latin typeface="Calibri"/>
                <a:ea typeface="Calibri"/>
                <a:cs typeface="Calibri"/>
                <a:sym typeface="Calibri"/>
              </a:rPr>
              <a:t>The system is built and operational. The only step remaining is institutional registration.</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8"/>
        <p:cNvGrpSpPr/>
        <p:nvPr/>
      </p:nvGrpSpPr>
      <p:grpSpPr>
        <a:xfrm>
          <a:off x="0" y="0"/>
          <a:ext cx="0" cy="0"/>
          <a:chOff x="0" y="0"/>
          <a:chExt cx="0" cy="0"/>
        </a:xfrm>
      </p:grpSpPr>
      <p:sp>
        <p:nvSpPr>
          <p:cNvPr id="379" name="Google Shape;379;p15"/>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Current Limitations — What DMIS Does Not Yet Do</a:t>
            </a:r>
            <a:endParaRPr sz="2600" b="0" i="0" u="none" strike="noStrike" cap="none">
              <a:solidFill>
                <a:schemeClr val="dk1"/>
              </a:solidFill>
              <a:latin typeface="Calibri"/>
              <a:ea typeface="Calibri"/>
              <a:cs typeface="Calibri"/>
              <a:sym typeface="Calibri"/>
            </a:endParaRPr>
          </a:p>
        </p:txBody>
      </p:sp>
      <p:sp>
        <p:nvSpPr>
          <p:cNvPr id="380" name="Google Shape;380;p15"/>
          <p:cNvSpPr/>
          <p:nvPr/>
        </p:nvSpPr>
        <p:spPr>
          <a:xfrm>
            <a:off x="365760" y="6583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5"/>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382" name="Google Shape;382;p15"/>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13</a:t>
            </a:r>
            <a:endParaRPr sz="800" b="0" i="0" u="none" strike="noStrike" cap="none">
              <a:solidFill>
                <a:schemeClr val="dk1"/>
              </a:solidFill>
              <a:latin typeface="Calibri"/>
              <a:ea typeface="Calibri"/>
              <a:cs typeface="Calibri"/>
              <a:sym typeface="Calibri"/>
            </a:endParaRPr>
          </a:p>
        </p:txBody>
      </p:sp>
      <p:sp>
        <p:nvSpPr>
          <p:cNvPr id="383" name="Google Shape;383;p15"/>
          <p:cNvSpPr/>
          <p:nvPr/>
        </p:nvSpPr>
        <p:spPr>
          <a:xfrm>
            <a:off x="365760" y="1051560"/>
            <a:ext cx="8412480" cy="1627632"/>
          </a:xfrm>
          <a:prstGeom prst="rect">
            <a:avLst/>
          </a:prstGeom>
          <a:solidFill>
            <a:srgbClr val="F5F7FA"/>
          </a:solidFill>
          <a:ln w="1905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5"/>
          <p:cNvSpPr/>
          <p:nvPr/>
        </p:nvSpPr>
        <p:spPr>
          <a:xfrm>
            <a:off x="365760" y="1051560"/>
            <a:ext cx="91440" cy="1627632"/>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5" name="Google Shape;385;p15" descr="preencoded.png"/>
          <p:cNvPicPr preferRelativeResize="0"/>
          <p:nvPr/>
        </p:nvPicPr>
        <p:blipFill rotWithShape="1">
          <a:blip r:embed="rId3">
            <a:alphaModFix/>
          </a:blip>
          <a:srcRect/>
          <a:stretch/>
        </p:blipFill>
        <p:spPr>
          <a:xfrm>
            <a:off x="566928" y="1216152"/>
            <a:ext cx="411480" cy="411480"/>
          </a:xfrm>
          <a:prstGeom prst="rect">
            <a:avLst/>
          </a:prstGeom>
          <a:noFill/>
          <a:ln>
            <a:noFill/>
          </a:ln>
        </p:spPr>
      </p:pic>
      <p:sp>
        <p:nvSpPr>
          <p:cNvPr id="386" name="Google Shape;386;p15"/>
          <p:cNvSpPr/>
          <p:nvPr/>
        </p:nvSpPr>
        <p:spPr>
          <a:xfrm>
            <a:off x="1051560" y="1216152"/>
            <a:ext cx="74980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7F17"/>
              </a:buClr>
              <a:buSzPts val="1400"/>
              <a:buFont typeface="Calibri"/>
              <a:buNone/>
            </a:pPr>
            <a:r>
              <a:rPr lang="en-US" sz="1400" b="1" i="0" u="none" strike="noStrike" cap="none">
                <a:solidFill>
                  <a:srgbClr val="F57F17"/>
                </a:solidFill>
                <a:latin typeface="Calibri"/>
                <a:ea typeface="Calibri"/>
                <a:cs typeface="Calibri"/>
                <a:sym typeface="Calibri"/>
              </a:rPr>
              <a:t>File Management Not Yet Available</a:t>
            </a:r>
            <a:endParaRPr sz="1400" b="0" i="0" u="none" strike="noStrike" cap="none">
              <a:solidFill>
                <a:schemeClr val="dk1"/>
              </a:solidFill>
              <a:latin typeface="Calibri"/>
              <a:ea typeface="Calibri"/>
              <a:cs typeface="Calibri"/>
              <a:sym typeface="Calibri"/>
            </a:endParaRPr>
          </a:p>
        </p:txBody>
      </p:sp>
      <p:sp>
        <p:nvSpPr>
          <p:cNvPr id="387" name="Google Shape;387;p15"/>
          <p:cNvSpPr/>
          <p:nvPr/>
        </p:nvSpPr>
        <p:spPr>
          <a:xfrm>
            <a:off x="1051560" y="1581912"/>
            <a:ext cx="749808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150"/>
              <a:buFont typeface="Calibri"/>
              <a:buNone/>
            </a:pPr>
            <a:r>
              <a:rPr lang="en-US" sz="1150" b="0" i="0" u="none" strike="noStrike" cap="none">
                <a:solidFill>
                  <a:srgbClr val="212121"/>
                </a:solidFill>
                <a:latin typeface="Calibri"/>
                <a:ea typeface="Calibri"/>
                <a:cs typeface="Calibri"/>
                <a:sym typeface="Calibri"/>
              </a:rPr>
              <a:t>DMIS currently manages letters (correspondence). Full file management — creating, tracking, and archiving official files — is planned for Stage 2 but is not yet available. Continue using existing file systems for file management.</a:t>
            </a:r>
            <a:endParaRPr sz="1150" b="0" i="0" u="none" strike="noStrike" cap="none">
              <a:solidFill>
                <a:schemeClr val="dk1"/>
              </a:solidFill>
              <a:latin typeface="Calibri"/>
              <a:ea typeface="Calibri"/>
              <a:cs typeface="Calibri"/>
              <a:sym typeface="Calibri"/>
            </a:endParaRPr>
          </a:p>
        </p:txBody>
      </p:sp>
      <p:sp>
        <p:nvSpPr>
          <p:cNvPr id="388" name="Google Shape;388;p15"/>
          <p:cNvSpPr/>
          <p:nvPr/>
        </p:nvSpPr>
        <p:spPr>
          <a:xfrm>
            <a:off x="365760" y="2807208"/>
            <a:ext cx="8412480" cy="1627632"/>
          </a:xfrm>
          <a:prstGeom prst="rect">
            <a:avLst/>
          </a:prstGeom>
          <a:solidFill>
            <a:srgbClr val="F5F7FA"/>
          </a:solidFill>
          <a:ln w="19050" cap="flat" cmpd="sng">
            <a:solidFill>
              <a:srgbClr val="B71C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5"/>
          <p:cNvSpPr/>
          <p:nvPr/>
        </p:nvSpPr>
        <p:spPr>
          <a:xfrm>
            <a:off x="365760" y="2807208"/>
            <a:ext cx="91440" cy="1627632"/>
          </a:xfrm>
          <a:prstGeom prst="rect">
            <a:avLst/>
          </a:prstGeom>
          <a:solidFill>
            <a:srgbClr val="B71C1C"/>
          </a:solidFill>
          <a:ln w="12700" cap="flat" cmpd="sng">
            <a:solidFill>
              <a:srgbClr val="B71C1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0" name="Google Shape;390;p15" descr="preencoded.png"/>
          <p:cNvPicPr preferRelativeResize="0"/>
          <p:nvPr/>
        </p:nvPicPr>
        <p:blipFill rotWithShape="1">
          <a:blip r:embed="rId4">
            <a:alphaModFix/>
          </a:blip>
          <a:srcRect/>
          <a:stretch/>
        </p:blipFill>
        <p:spPr>
          <a:xfrm>
            <a:off x="566928" y="2971800"/>
            <a:ext cx="411480" cy="411480"/>
          </a:xfrm>
          <a:prstGeom prst="rect">
            <a:avLst/>
          </a:prstGeom>
          <a:noFill/>
          <a:ln>
            <a:noFill/>
          </a:ln>
        </p:spPr>
      </p:pic>
      <p:sp>
        <p:nvSpPr>
          <p:cNvPr id="391" name="Google Shape;391;p15"/>
          <p:cNvSpPr/>
          <p:nvPr/>
        </p:nvSpPr>
        <p:spPr>
          <a:xfrm>
            <a:off x="1051560" y="2971800"/>
            <a:ext cx="74980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71C1C"/>
              </a:buClr>
              <a:buSzPts val="1400"/>
              <a:buFont typeface="Calibri"/>
              <a:buNone/>
            </a:pPr>
            <a:r>
              <a:rPr lang="en-US" sz="1400" b="1" i="0" u="none" strike="noStrike" cap="none">
                <a:solidFill>
                  <a:srgbClr val="B71C1C"/>
                </a:solidFill>
                <a:latin typeface="Calibri"/>
                <a:ea typeface="Calibri"/>
                <a:cs typeface="Calibri"/>
                <a:sym typeface="Calibri"/>
              </a:rPr>
              <a:t>Not Suitable for Confidential Correspondence</a:t>
            </a:r>
            <a:endParaRPr sz="1400" b="0" i="0" u="none" strike="noStrike" cap="none">
              <a:solidFill>
                <a:schemeClr val="dk1"/>
              </a:solidFill>
              <a:latin typeface="Calibri"/>
              <a:ea typeface="Calibri"/>
              <a:cs typeface="Calibri"/>
              <a:sym typeface="Calibri"/>
            </a:endParaRPr>
          </a:p>
        </p:txBody>
      </p:sp>
      <p:sp>
        <p:nvSpPr>
          <p:cNvPr id="392" name="Google Shape;392;p15"/>
          <p:cNvSpPr/>
          <p:nvPr/>
        </p:nvSpPr>
        <p:spPr>
          <a:xfrm>
            <a:off x="1051560" y="3337560"/>
            <a:ext cx="749808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150"/>
              <a:buFont typeface="Calibri"/>
              <a:buNone/>
            </a:pPr>
            <a:r>
              <a:rPr lang="en-US" sz="1150" b="0" i="0" u="none" strike="noStrike" cap="none">
                <a:solidFill>
                  <a:srgbClr val="212121"/>
                </a:solidFill>
                <a:latin typeface="Calibri"/>
                <a:ea typeface="Calibri"/>
                <a:cs typeface="Calibri"/>
                <a:sym typeface="Calibri"/>
              </a:rPr>
              <a:t>Once a letter is forwarded, it becomes visible to all users of all institutions along the forwarding chain. DMIS is designed for routine official correspondence. For confidential or sensitive letters, continue using secure channels — do not forward through DMIS.</a:t>
            </a:r>
            <a:endParaRPr sz="1150" b="0" i="0" u="none" strike="noStrike" cap="none">
              <a:solidFill>
                <a:schemeClr val="dk1"/>
              </a:solidFill>
              <a:latin typeface="Calibri"/>
              <a:ea typeface="Calibri"/>
              <a:cs typeface="Calibri"/>
              <a:sym typeface="Calibri"/>
            </a:endParaRPr>
          </a:p>
        </p:txBody>
      </p:sp>
      <p:sp>
        <p:nvSpPr>
          <p:cNvPr id="393" name="Google Shape;393;p15"/>
          <p:cNvSpPr/>
          <p:nvPr/>
        </p:nvSpPr>
        <p:spPr>
          <a:xfrm>
            <a:off x="365760" y="4572000"/>
            <a:ext cx="8412480" cy="502920"/>
          </a:xfrm>
          <a:prstGeom prst="rect">
            <a:avLst/>
          </a:prstGeom>
          <a:solidFill>
            <a:srgbClr val="E0F2F1"/>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5"/>
          <p:cNvSpPr/>
          <p:nvPr/>
        </p:nvSpPr>
        <p:spPr>
          <a:xfrm>
            <a:off x="502920" y="4608576"/>
            <a:ext cx="8229600" cy="4297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838F"/>
              </a:buClr>
              <a:buSzPts val="1100"/>
              <a:buFont typeface="Calibri"/>
              <a:buNone/>
            </a:pPr>
            <a:r>
              <a:rPr lang="en-US" sz="1100" b="1" i="0" u="none" strike="noStrike" cap="none">
                <a:solidFill>
                  <a:srgbClr val="00838F"/>
                </a:solidFill>
                <a:latin typeface="Calibri"/>
                <a:ea typeface="Calibri"/>
                <a:cs typeface="Calibri"/>
                <a:sym typeface="Calibri"/>
              </a:rPr>
              <a:t>Coming soon: </a:t>
            </a:r>
            <a:r>
              <a:rPr lang="en-US" sz="1100" b="0" i="0" u="none" strike="noStrike" cap="none">
                <a:solidFill>
                  <a:srgbClr val="1A237E"/>
                </a:solidFill>
                <a:latin typeface="Calibri"/>
                <a:ea typeface="Calibri"/>
                <a:cs typeface="Calibri"/>
                <a:sym typeface="Calibri"/>
              </a:rPr>
              <a:t>AI-powered letter scanning — the system will read attached letter images, extract data automatically, and present it to staff for confirmation. File management (Stage 2) is also on the roadmap.</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9"/>
        <p:cNvGrpSpPr/>
        <p:nvPr/>
      </p:nvGrpSpPr>
      <p:grpSpPr>
        <a:xfrm>
          <a:off x="0" y="0"/>
          <a:ext cx="0" cy="0"/>
          <a:chOff x="0" y="0"/>
          <a:chExt cx="0" cy="0"/>
        </a:xfrm>
      </p:grpSpPr>
      <p:sp>
        <p:nvSpPr>
          <p:cNvPr id="400" name="Google Shape;400;p16"/>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Administration &amp; Support — Simple by Design</a:t>
            </a:r>
            <a:endParaRPr sz="2600" b="0" i="0" u="none" strike="noStrike" cap="none">
              <a:solidFill>
                <a:schemeClr val="dk1"/>
              </a:solidFill>
              <a:latin typeface="Calibri"/>
              <a:ea typeface="Calibri"/>
              <a:cs typeface="Calibri"/>
              <a:sym typeface="Calibri"/>
            </a:endParaRPr>
          </a:p>
        </p:txBody>
      </p:sp>
      <p:sp>
        <p:nvSpPr>
          <p:cNvPr id="401" name="Google Shape;401;p16"/>
          <p:cNvSpPr/>
          <p:nvPr/>
        </p:nvSpPr>
        <p:spPr>
          <a:xfrm>
            <a:off x="365760" y="6583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6"/>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403" name="Google Shape;403;p16"/>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14</a:t>
            </a:r>
            <a:endParaRPr sz="800" b="0" i="0" u="none" strike="noStrike" cap="none">
              <a:solidFill>
                <a:schemeClr val="dk1"/>
              </a:solidFill>
              <a:latin typeface="Calibri"/>
              <a:ea typeface="Calibri"/>
              <a:cs typeface="Calibri"/>
              <a:sym typeface="Calibri"/>
            </a:endParaRPr>
          </a:p>
        </p:txBody>
      </p:sp>
      <p:sp>
        <p:nvSpPr>
          <p:cNvPr id="404" name="Google Shape;404;p16"/>
          <p:cNvSpPr/>
          <p:nvPr/>
        </p:nvSpPr>
        <p:spPr>
          <a:xfrm>
            <a:off x="365760" y="1024128"/>
            <a:ext cx="4937760" cy="3730752"/>
          </a:xfrm>
          <a:prstGeom prst="rect">
            <a:avLst/>
          </a:prstGeom>
          <a:solidFill>
            <a:srgbClr val="F5F7FA"/>
          </a:solidFill>
          <a:ln w="12700" cap="flat" cmpd="sng">
            <a:solidFill>
              <a:srgbClr val="D0D0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6"/>
          <p:cNvSpPr/>
          <p:nvPr/>
        </p:nvSpPr>
        <p:spPr>
          <a:xfrm>
            <a:off x="365760" y="1024128"/>
            <a:ext cx="73152" cy="3730752"/>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6"/>
          <p:cNvSpPr/>
          <p:nvPr/>
        </p:nvSpPr>
        <p:spPr>
          <a:xfrm>
            <a:off x="530352" y="1097280"/>
            <a:ext cx="4663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1300"/>
              <a:buFont typeface="Calibri"/>
              <a:buNone/>
            </a:pPr>
            <a:r>
              <a:rPr lang="en-US" sz="1300" b="1" i="0" u="none" strike="noStrike" cap="none">
                <a:solidFill>
                  <a:srgbClr val="1A237E"/>
                </a:solidFill>
                <a:latin typeface="Calibri"/>
                <a:ea typeface="Calibri"/>
                <a:cs typeface="Calibri"/>
                <a:sym typeface="Calibri"/>
              </a:rPr>
              <a:t>Institutional Administration</a:t>
            </a:r>
            <a:endParaRPr sz="1300" b="0" i="0" u="none" strike="noStrike" cap="none">
              <a:solidFill>
                <a:schemeClr val="dk1"/>
              </a:solidFill>
              <a:latin typeface="Calibri"/>
              <a:ea typeface="Calibri"/>
              <a:cs typeface="Calibri"/>
              <a:sym typeface="Calibri"/>
            </a:endParaRPr>
          </a:p>
        </p:txBody>
      </p:sp>
      <p:sp>
        <p:nvSpPr>
          <p:cNvPr id="407" name="Google Shape;407;p16"/>
          <p:cNvSpPr/>
          <p:nvPr/>
        </p:nvSpPr>
        <p:spPr>
          <a:xfrm>
            <a:off x="530352" y="1426464"/>
            <a:ext cx="4663440" cy="192024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Each institution has its own Institution Administrator</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Admin creates and manages all user accounts within the institution</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Admin assigns roles and privileges — no IT department required</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Each user has a personal login — all actions are individually attributed</a:t>
            </a:r>
            <a:endParaRPr sz="11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212121"/>
              </a:buClr>
              <a:buSzPts val="1100"/>
              <a:buFont typeface="Calibri"/>
              <a:buChar char="•"/>
            </a:pPr>
            <a:r>
              <a:rPr lang="en-US" sz="1100" b="0" i="0" u="none" strike="noStrike" cap="none">
                <a:solidFill>
                  <a:srgbClr val="212121"/>
                </a:solidFill>
                <a:latin typeface="Calibri"/>
                <a:ea typeface="Calibri"/>
                <a:cs typeface="Calibri"/>
                <a:sym typeface="Calibri"/>
              </a:rPr>
              <a:t>No shared accounts — individual accountability is guaranteed</a:t>
            </a:r>
            <a:endParaRPr sz="1100" b="0" i="0" u="none" strike="noStrike" cap="none">
              <a:solidFill>
                <a:schemeClr val="dk1"/>
              </a:solidFill>
              <a:latin typeface="Calibri"/>
              <a:ea typeface="Calibri"/>
              <a:cs typeface="Calibri"/>
              <a:sym typeface="Calibri"/>
            </a:endParaRPr>
          </a:p>
        </p:txBody>
      </p:sp>
      <p:sp>
        <p:nvSpPr>
          <p:cNvPr id="408" name="Google Shape;408;p16"/>
          <p:cNvSpPr/>
          <p:nvPr/>
        </p:nvSpPr>
        <p:spPr>
          <a:xfrm>
            <a:off x="475488" y="3383280"/>
            <a:ext cx="4736592" cy="36576"/>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6"/>
          <p:cNvSpPr/>
          <p:nvPr/>
        </p:nvSpPr>
        <p:spPr>
          <a:xfrm>
            <a:off x="530352" y="3474720"/>
            <a:ext cx="4663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1200"/>
              <a:buFont typeface="Calibri"/>
              <a:buNone/>
            </a:pPr>
            <a:r>
              <a:rPr lang="en-US" sz="1200" b="1" i="0" u="none" strike="noStrike" cap="none">
                <a:solidFill>
                  <a:srgbClr val="1A237E"/>
                </a:solidFill>
                <a:latin typeface="Calibri"/>
                <a:ea typeface="Calibri"/>
                <a:cs typeface="Calibri"/>
                <a:sym typeface="Calibri"/>
              </a:rPr>
              <a:t>Security</a:t>
            </a:r>
            <a:endParaRPr sz="1200" b="0" i="0" u="none" strike="noStrike" cap="none">
              <a:solidFill>
                <a:schemeClr val="dk1"/>
              </a:solidFill>
              <a:latin typeface="Calibri"/>
              <a:ea typeface="Calibri"/>
              <a:cs typeface="Calibri"/>
              <a:sym typeface="Calibri"/>
            </a:endParaRPr>
          </a:p>
        </p:txBody>
      </p:sp>
      <p:sp>
        <p:nvSpPr>
          <p:cNvPr id="410" name="Google Shape;410;p16"/>
          <p:cNvSpPr/>
          <p:nvPr/>
        </p:nvSpPr>
        <p:spPr>
          <a:xfrm>
            <a:off x="530352" y="3767328"/>
            <a:ext cx="466344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121"/>
              </a:buClr>
              <a:buSzPts val="1050"/>
              <a:buFont typeface="Calibri"/>
              <a:buNone/>
            </a:pPr>
            <a:r>
              <a:rPr lang="en-US" sz="1050" b="0" i="0" u="none" strike="noStrike" cap="none">
                <a:solidFill>
                  <a:srgbClr val="212121"/>
                </a:solidFill>
                <a:latin typeface="Calibri"/>
                <a:ea typeface="Calibri"/>
                <a:cs typeface="Calibri"/>
                <a:sym typeface="Calibri"/>
              </a:rPr>
              <a:t>Users log in with personal credentials. All actions are attributed to the specific logged-in user. Full audit trail maintained.</a:t>
            </a:r>
            <a:endParaRPr sz="1050" b="0" i="0" u="none" strike="noStrike" cap="none">
              <a:solidFill>
                <a:schemeClr val="dk1"/>
              </a:solidFill>
              <a:latin typeface="Calibri"/>
              <a:ea typeface="Calibri"/>
              <a:cs typeface="Calibri"/>
              <a:sym typeface="Calibri"/>
            </a:endParaRPr>
          </a:p>
        </p:txBody>
      </p:sp>
      <p:sp>
        <p:nvSpPr>
          <p:cNvPr id="411" name="Google Shape;411;p16"/>
          <p:cNvSpPr/>
          <p:nvPr/>
        </p:nvSpPr>
        <p:spPr>
          <a:xfrm>
            <a:off x="5486400" y="1024128"/>
            <a:ext cx="3291840" cy="3730752"/>
          </a:xfrm>
          <a:prstGeom prst="rect">
            <a:avLst/>
          </a:prstGeom>
          <a:solidFill>
            <a:srgbClr val="1A237E"/>
          </a:solidFill>
          <a:ln w="12700" cap="flat" cmpd="sng">
            <a:solidFill>
              <a:srgbClr val="1A23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6"/>
          <p:cNvSpPr/>
          <p:nvPr/>
        </p:nvSpPr>
        <p:spPr>
          <a:xfrm>
            <a:off x="5596128" y="1097280"/>
            <a:ext cx="3072384"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38F"/>
              </a:buClr>
              <a:buSzPts val="1200"/>
              <a:buFont typeface="Calibri"/>
              <a:buNone/>
            </a:pPr>
            <a:r>
              <a:rPr lang="en-US" sz="1200" b="1" i="0" u="none" strike="noStrike" cap="none">
                <a:solidFill>
                  <a:srgbClr val="00838F"/>
                </a:solidFill>
                <a:latin typeface="Calibri"/>
                <a:ea typeface="Calibri"/>
                <a:cs typeface="Calibri"/>
                <a:sym typeface="Calibri"/>
              </a:rPr>
              <a:t>HIU Support Package</a:t>
            </a:r>
            <a:endParaRPr sz="1200" b="0" i="0" u="none" strike="noStrike" cap="none">
              <a:solidFill>
                <a:schemeClr val="dk1"/>
              </a:solidFill>
              <a:latin typeface="Calibri"/>
              <a:ea typeface="Calibri"/>
              <a:cs typeface="Calibri"/>
              <a:sym typeface="Calibri"/>
            </a:endParaRPr>
          </a:p>
        </p:txBody>
      </p:sp>
      <p:sp>
        <p:nvSpPr>
          <p:cNvPr id="413" name="Google Shape;413;p16"/>
          <p:cNvSpPr/>
          <p:nvPr/>
        </p:nvSpPr>
        <p:spPr>
          <a:xfrm>
            <a:off x="5596128" y="1463040"/>
            <a:ext cx="3072384"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838F"/>
              </a:buClr>
              <a:buSzPts val="1050"/>
              <a:buFont typeface="Calibri"/>
              <a:buNone/>
            </a:pPr>
            <a:r>
              <a:rPr lang="en-US" sz="1050" b="1" i="0" u="none" strike="noStrike" cap="none">
                <a:solidFill>
                  <a:srgbClr val="00838F"/>
                </a:solidFill>
                <a:latin typeface="Calibri"/>
                <a:ea typeface="Calibri"/>
                <a:cs typeface="Calibri"/>
                <a:sym typeface="Calibri"/>
              </a:rPr>
              <a:t>✓  </a:t>
            </a:r>
            <a:r>
              <a:rPr lang="en-US" sz="1050" b="0" i="0" u="none" strike="noStrike" cap="none">
                <a:solidFill>
                  <a:srgbClr val="FFFFFF"/>
                </a:solidFill>
                <a:latin typeface="Calibri"/>
                <a:ea typeface="Calibri"/>
                <a:cs typeface="Calibri"/>
                <a:sym typeface="Calibri"/>
              </a:rPr>
              <a:t>Account activation within a few working days of request</a:t>
            </a:r>
            <a:endParaRPr sz="1050" b="0" i="0" u="none" strike="noStrike" cap="none">
              <a:solidFill>
                <a:schemeClr val="dk1"/>
              </a:solidFill>
              <a:latin typeface="Calibri"/>
              <a:ea typeface="Calibri"/>
              <a:cs typeface="Calibri"/>
              <a:sym typeface="Calibri"/>
            </a:endParaRPr>
          </a:p>
        </p:txBody>
      </p:sp>
      <p:sp>
        <p:nvSpPr>
          <p:cNvPr id="414" name="Google Shape;414;p16"/>
          <p:cNvSpPr/>
          <p:nvPr/>
        </p:nvSpPr>
        <p:spPr>
          <a:xfrm>
            <a:off x="5596128" y="1993392"/>
            <a:ext cx="3072384"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838F"/>
              </a:buClr>
              <a:buSzPts val="1050"/>
              <a:buFont typeface="Calibri"/>
              <a:buNone/>
            </a:pPr>
            <a:r>
              <a:rPr lang="en-US" sz="1050" b="1" i="0" u="none" strike="noStrike" cap="none">
                <a:solidFill>
                  <a:srgbClr val="00838F"/>
                </a:solidFill>
                <a:latin typeface="Calibri"/>
                <a:ea typeface="Calibri"/>
                <a:cs typeface="Calibri"/>
                <a:sym typeface="Calibri"/>
              </a:rPr>
              <a:t>✓  </a:t>
            </a:r>
            <a:r>
              <a:rPr lang="en-US" sz="1050" b="0" i="0" u="none" strike="noStrike" cap="none">
                <a:solidFill>
                  <a:srgbClr val="FFFFFF"/>
                </a:solidFill>
                <a:latin typeface="Calibri"/>
                <a:ea typeface="Calibri"/>
                <a:cs typeface="Calibri"/>
                <a:sym typeface="Calibri"/>
              </a:rPr>
              <a:t>On-site and online training for administrators and users</a:t>
            </a:r>
            <a:endParaRPr sz="1050" b="0" i="0" u="none" strike="noStrike" cap="none">
              <a:solidFill>
                <a:schemeClr val="dk1"/>
              </a:solidFill>
              <a:latin typeface="Calibri"/>
              <a:ea typeface="Calibri"/>
              <a:cs typeface="Calibri"/>
              <a:sym typeface="Calibri"/>
            </a:endParaRPr>
          </a:p>
        </p:txBody>
      </p:sp>
      <p:sp>
        <p:nvSpPr>
          <p:cNvPr id="415" name="Google Shape;415;p16"/>
          <p:cNvSpPr/>
          <p:nvPr/>
        </p:nvSpPr>
        <p:spPr>
          <a:xfrm>
            <a:off x="5596128" y="2523744"/>
            <a:ext cx="3072384"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838F"/>
              </a:buClr>
              <a:buSzPts val="1050"/>
              <a:buFont typeface="Calibri"/>
              <a:buNone/>
            </a:pPr>
            <a:r>
              <a:rPr lang="en-US" sz="1050" b="1" i="0" u="none" strike="noStrike" cap="none">
                <a:solidFill>
                  <a:srgbClr val="00838F"/>
                </a:solidFill>
                <a:latin typeface="Calibri"/>
                <a:ea typeface="Calibri"/>
                <a:cs typeface="Calibri"/>
                <a:sym typeface="Calibri"/>
              </a:rPr>
              <a:t>✓  </a:t>
            </a:r>
            <a:r>
              <a:rPr lang="en-US" sz="1050" b="0" i="0" u="none" strike="noStrike" cap="none">
                <a:solidFill>
                  <a:srgbClr val="FFFFFF"/>
                </a:solidFill>
                <a:latin typeface="Calibri"/>
                <a:ea typeface="Calibri"/>
                <a:cs typeface="Calibri"/>
                <a:sym typeface="Calibri"/>
              </a:rPr>
              <a:t>User manuals and quick-reference guides</a:t>
            </a:r>
            <a:endParaRPr sz="1050" b="0" i="0" u="none" strike="noStrike" cap="none">
              <a:solidFill>
                <a:schemeClr val="dk1"/>
              </a:solidFill>
              <a:latin typeface="Calibri"/>
              <a:ea typeface="Calibri"/>
              <a:cs typeface="Calibri"/>
              <a:sym typeface="Calibri"/>
            </a:endParaRPr>
          </a:p>
        </p:txBody>
      </p:sp>
      <p:sp>
        <p:nvSpPr>
          <p:cNvPr id="416" name="Google Shape;416;p16"/>
          <p:cNvSpPr/>
          <p:nvPr/>
        </p:nvSpPr>
        <p:spPr>
          <a:xfrm>
            <a:off x="5596128" y="3054096"/>
            <a:ext cx="3072384"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838F"/>
              </a:buClr>
              <a:buSzPts val="1050"/>
              <a:buFont typeface="Calibri"/>
              <a:buNone/>
            </a:pPr>
            <a:r>
              <a:rPr lang="en-US" sz="1050" b="1" i="0" u="none" strike="noStrike" cap="none">
                <a:solidFill>
                  <a:srgbClr val="00838F"/>
                </a:solidFill>
                <a:latin typeface="Calibri"/>
                <a:ea typeface="Calibri"/>
                <a:cs typeface="Calibri"/>
                <a:sym typeface="Calibri"/>
              </a:rPr>
              <a:t>✓  </a:t>
            </a:r>
            <a:r>
              <a:rPr lang="en-US" sz="1050" b="0" i="0" u="none" strike="noStrike" cap="none">
                <a:solidFill>
                  <a:srgbClr val="FFFFFF"/>
                </a:solidFill>
                <a:latin typeface="Calibri"/>
                <a:ea typeface="Calibri"/>
                <a:cs typeface="Calibri"/>
                <a:sym typeface="Calibri"/>
              </a:rPr>
              <a:t>Technical helpdesk via email and phone</a:t>
            </a:r>
            <a:endParaRPr sz="1050" b="0" i="0" u="none" strike="noStrike" cap="none">
              <a:solidFill>
                <a:schemeClr val="dk1"/>
              </a:solidFill>
              <a:latin typeface="Calibri"/>
              <a:ea typeface="Calibri"/>
              <a:cs typeface="Calibri"/>
              <a:sym typeface="Calibri"/>
            </a:endParaRPr>
          </a:p>
        </p:txBody>
      </p:sp>
      <p:sp>
        <p:nvSpPr>
          <p:cNvPr id="417" name="Google Shape;417;p16"/>
          <p:cNvSpPr/>
          <p:nvPr/>
        </p:nvSpPr>
        <p:spPr>
          <a:xfrm>
            <a:off x="5596128" y="3584448"/>
            <a:ext cx="3072384"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838F"/>
              </a:buClr>
              <a:buSzPts val="1050"/>
              <a:buFont typeface="Calibri"/>
              <a:buNone/>
            </a:pPr>
            <a:r>
              <a:rPr lang="en-US" sz="1050" b="1" i="0" u="none" strike="noStrike" cap="none">
                <a:solidFill>
                  <a:srgbClr val="00838F"/>
                </a:solidFill>
                <a:latin typeface="Calibri"/>
                <a:ea typeface="Calibri"/>
                <a:cs typeface="Calibri"/>
                <a:sym typeface="Calibri"/>
              </a:rPr>
              <a:t>✓  </a:t>
            </a:r>
            <a:r>
              <a:rPr lang="en-US" sz="1050" b="0" i="0" u="none" strike="noStrike" cap="none">
                <a:solidFill>
                  <a:srgbClr val="FFFFFF"/>
                </a:solidFill>
                <a:latin typeface="Calibri"/>
                <a:ea typeface="Calibri"/>
                <a:cs typeface="Calibri"/>
                <a:sym typeface="Calibri"/>
              </a:rPr>
              <a:t>All system updates and bug fixes at zero cost</a:t>
            </a:r>
            <a:endParaRPr sz="1050" b="0" i="0" u="none" strike="noStrike" cap="none">
              <a:solidFill>
                <a:schemeClr val="dk1"/>
              </a:solidFill>
              <a:latin typeface="Calibri"/>
              <a:ea typeface="Calibri"/>
              <a:cs typeface="Calibri"/>
              <a:sym typeface="Calibri"/>
            </a:endParaRPr>
          </a:p>
        </p:txBody>
      </p:sp>
      <p:sp>
        <p:nvSpPr>
          <p:cNvPr id="418" name="Google Shape;418;p16"/>
          <p:cNvSpPr/>
          <p:nvPr/>
        </p:nvSpPr>
        <p:spPr>
          <a:xfrm>
            <a:off x="5596128" y="4114800"/>
            <a:ext cx="3072384"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838F"/>
              </a:buClr>
              <a:buSzPts val="1050"/>
              <a:buFont typeface="Calibri"/>
              <a:buNone/>
            </a:pPr>
            <a:r>
              <a:rPr lang="en-US" sz="1050" b="1" i="0" u="none" strike="noStrike" cap="none">
                <a:solidFill>
                  <a:srgbClr val="00838F"/>
                </a:solidFill>
                <a:latin typeface="Calibri"/>
                <a:ea typeface="Calibri"/>
                <a:cs typeface="Calibri"/>
                <a:sym typeface="Calibri"/>
              </a:rPr>
              <a:t>✓  </a:t>
            </a:r>
            <a:r>
              <a:rPr lang="en-US" sz="1050" b="0" i="0" u="none" strike="noStrike" cap="none">
                <a:solidFill>
                  <a:srgbClr val="FFFFFF"/>
                </a:solidFill>
                <a:latin typeface="Calibri"/>
                <a:ea typeface="Calibri"/>
                <a:cs typeface="Calibri"/>
                <a:sym typeface="Calibri"/>
              </a:rPr>
              <a:t>Continuous improvement based on user feedback</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3"/>
        <p:cNvGrpSpPr/>
        <p:nvPr/>
      </p:nvGrpSpPr>
      <p:grpSpPr>
        <a:xfrm>
          <a:off x="0" y="0"/>
          <a:ext cx="0" cy="0"/>
          <a:chOff x="0" y="0"/>
          <a:chExt cx="0" cy="0"/>
        </a:xfrm>
      </p:grpSpPr>
      <p:sp>
        <p:nvSpPr>
          <p:cNvPr id="424" name="Google Shape;424;p17"/>
          <p:cNvSpPr/>
          <p:nvPr/>
        </p:nvSpPr>
        <p:spPr>
          <a:xfrm>
            <a:off x="365760" y="164592"/>
            <a:ext cx="84124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237E"/>
              </a:buClr>
              <a:buSzPts val="2600"/>
              <a:buFont typeface="Calibri"/>
              <a:buNone/>
            </a:pPr>
            <a:r>
              <a:rPr lang="en-US" sz="2600" b="1" i="0" u="none" strike="noStrike" cap="none">
                <a:solidFill>
                  <a:srgbClr val="1A237E"/>
                </a:solidFill>
                <a:latin typeface="Calibri"/>
                <a:ea typeface="Calibri"/>
                <a:cs typeface="Calibri"/>
                <a:sym typeface="Calibri"/>
              </a:rPr>
              <a:t>Getting Your Unit onto DMIS — 4 Simple Steps</a:t>
            </a:r>
            <a:endParaRPr sz="2600" b="0" i="0" u="none" strike="noStrike" cap="none">
              <a:solidFill>
                <a:schemeClr val="dk1"/>
              </a:solidFill>
              <a:latin typeface="Calibri"/>
              <a:ea typeface="Calibri"/>
              <a:cs typeface="Calibri"/>
              <a:sym typeface="Calibri"/>
            </a:endParaRPr>
          </a:p>
        </p:txBody>
      </p:sp>
      <p:sp>
        <p:nvSpPr>
          <p:cNvPr id="425" name="Google Shape;425;p17"/>
          <p:cNvSpPr/>
          <p:nvPr/>
        </p:nvSpPr>
        <p:spPr>
          <a:xfrm>
            <a:off x="365760" y="658368"/>
            <a:ext cx="8412480" cy="22860"/>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7"/>
          <p:cNvSpPr/>
          <p:nvPr/>
        </p:nvSpPr>
        <p:spPr>
          <a:xfrm>
            <a:off x="274320" y="4892040"/>
            <a:ext cx="8046720"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Ministry of Health Sri Lanka  |  Health Informatics Unit  |  DMIS</a:t>
            </a:r>
            <a:endParaRPr sz="800" b="0" i="0" u="none" strike="noStrike" cap="none">
              <a:solidFill>
                <a:schemeClr val="dk1"/>
              </a:solidFill>
              <a:latin typeface="Calibri"/>
              <a:ea typeface="Calibri"/>
              <a:cs typeface="Calibri"/>
              <a:sym typeface="Calibri"/>
            </a:endParaRPr>
          </a:p>
        </p:txBody>
      </p:sp>
      <p:sp>
        <p:nvSpPr>
          <p:cNvPr id="427" name="Google Shape;427;p17"/>
          <p:cNvSpPr/>
          <p:nvPr/>
        </p:nvSpPr>
        <p:spPr>
          <a:xfrm>
            <a:off x="8595360" y="4892040"/>
            <a:ext cx="274320" cy="201168"/>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800"/>
              <a:buFont typeface="Calibri"/>
              <a:buNone/>
            </a:pPr>
            <a:r>
              <a:rPr lang="en-US" sz="800" b="0" i="0" u="none" strike="noStrike" cap="none">
                <a:solidFill>
                  <a:srgbClr val="757575"/>
                </a:solidFill>
                <a:latin typeface="Calibri"/>
                <a:ea typeface="Calibri"/>
                <a:cs typeface="Calibri"/>
                <a:sym typeface="Calibri"/>
              </a:rPr>
              <a:t>15</a:t>
            </a:r>
            <a:endParaRPr sz="800" b="0" i="0" u="none" strike="noStrike" cap="none">
              <a:solidFill>
                <a:schemeClr val="dk1"/>
              </a:solidFill>
              <a:latin typeface="Calibri"/>
              <a:ea typeface="Calibri"/>
              <a:cs typeface="Calibri"/>
              <a:sym typeface="Calibri"/>
            </a:endParaRPr>
          </a:p>
        </p:txBody>
      </p:sp>
      <p:sp>
        <p:nvSpPr>
          <p:cNvPr id="428" name="Google Shape;428;p17"/>
          <p:cNvSpPr/>
          <p:nvPr/>
        </p:nvSpPr>
        <p:spPr>
          <a:xfrm>
            <a:off x="365760" y="1024128"/>
            <a:ext cx="2029968" cy="3017520"/>
          </a:xfrm>
          <a:prstGeom prst="rect">
            <a:avLst/>
          </a:prstGeom>
          <a:solidFill>
            <a:srgbClr val="1A237E"/>
          </a:solidFill>
          <a:ln w="12700" cap="flat" cmpd="sng">
            <a:solidFill>
              <a:srgbClr val="1A237E"/>
            </a:solidFill>
            <a:prstDash val="solid"/>
            <a:round/>
            <a:headEnd type="none" w="sm" len="sm"/>
            <a:tailEnd type="none" w="sm" len="sm"/>
          </a:ln>
          <a:effectLst>
            <a:outerShdw blurRad="635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7"/>
          <p:cNvSpPr/>
          <p:nvPr/>
        </p:nvSpPr>
        <p:spPr>
          <a:xfrm>
            <a:off x="365760" y="1051560"/>
            <a:ext cx="2029968" cy="8229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5400"/>
              <a:buFont typeface="Calibri"/>
              <a:buNone/>
            </a:pPr>
            <a:r>
              <a:rPr lang="en-US" sz="5400" b="1" i="0" u="none" strike="noStrike" cap="none">
                <a:solidFill>
                  <a:srgbClr val="FFFFFF"/>
                </a:solidFill>
                <a:latin typeface="Calibri"/>
                <a:ea typeface="Calibri"/>
                <a:cs typeface="Calibri"/>
                <a:sym typeface="Calibri"/>
              </a:rPr>
              <a:t>1</a:t>
            </a:r>
            <a:endParaRPr sz="5400" b="0" i="0" u="none" strike="noStrike" cap="none">
              <a:solidFill>
                <a:schemeClr val="dk1"/>
              </a:solidFill>
              <a:latin typeface="Calibri"/>
              <a:ea typeface="Calibri"/>
              <a:cs typeface="Calibri"/>
              <a:sym typeface="Calibri"/>
            </a:endParaRPr>
          </a:p>
        </p:txBody>
      </p:sp>
      <p:sp>
        <p:nvSpPr>
          <p:cNvPr id="430" name="Google Shape;430;p17"/>
          <p:cNvSpPr/>
          <p:nvPr/>
        </p:nvSpPr>
        <p:spPr>
          <a:xfrm>
            <a:off x="457200" y="1938528"/>
            <a:ext cx="1847088"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Request Account</a:t>
            </a:r>
            <a:endParaRPr sz="1300" b="0" i="0" u="none" strike="noStrike" cap="none">
              <a:solidFill>
                <a:schemeClr val="dk1"/>
              </a:solidFill>
              <a:latin typeface="Calibri"/>
              <a:ea typeface="Calibri"/>
              <a:cs typeface="Calibri"/>
              <a:sym typeface="Calibri"/>
            </a:endParaRPr>
          </a:p>
        </p:txBody>
      </p:sp>
      <p:sp>
        <p:nvSpPr>
          <p:cNvPr id="431" name="Google Shape;431;p17"/>
          <p:cNvSpPr/>
          <p:nvPr/>
        </p:nvSpPr>
        <p:spPr>
          <a:xfrm>
            <a:off x="457200" y="2331720"/>
            <a:ext cx="1847088" cy="15727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Contact HIU with your unit name, address, and your nominated administrator's details.</a:t>
            </a:r>
            <a:endParaRPr sz="1050" b="0" i="0" u="none" strike="noStrike" cap="none">
              <a:solidFill>
                <a:schemeClr val="dk1"/>
              </a:solidFill>
              <a:latin typeface="Calibri"/>
              <a:ea typeface="Calibri"/>
              <a:cs typeface="Calibri"/>
              <a:sym typeface="Calibri"/>
            </a:endParaRPr>
          </a:p>
        </p:txBody>
      </p:sp>
      <p:pic>
        <p:nvPicPr>
          <p:cNvPr id="432" name="Google Shape;432;p17" descr="preencoded.png"/>
          <p:cNvPicPr preferRelativeResize="0"/>
          <p:nvPr/>
        </p:nvPicPr>
        <p:blipFill rotWithShape="1">
          <a:blip r:embed="rId3">
            <a:alphaModFix/>
          </a:blip>
          <a:srcRect/>
          <a:stretch/>
        </p:blipFill>
        <p:spPr>
          <a:xfrm>
            <a:off x="2414016" y="2286000"/>
            <a:ext cx="109728" cy="182880"/>
          </a:xfrm>
          <a:prstGeom prst="rect">
            <a:avLst/>
          </a:prstGeom>
          <a:noFill/>
          <a:ln>
            <a:noFill/>
          </a:ln>
        </p:spPr>
      </p:pic>
      <p:sp>
        <p:nvSpPr>
          <p:cNvPr id="433" name="Google Shape;433;p17"/>
          <p:cNvSpPr/>
          <p:nvPr/>
        </p:nvSpPr>
        <p:spPr>
          <a:xfrm>
            <a:off x="2542032" y="1024128"/>
            <a:ext cx="2029968" cy="3017520"/>
          </a:xfrm>
          <a:prstGeom prst="rect">
            <a:avLst/>
          </a:prstGeom>
          <a:solidFill>
            <a:srgbClr val="00838F"/>
          </a:solidFill>
          <a:ln w="12700" cap="flat" cmpd="sng">
            <a:solidFill>
              <a:srgbClr val="00838F"/>
            </a:solidFill>
            <a:prstDash val="solid"/>
            <a:round/>
            <a:headEnd type="none" w="sm" len="sm"/>
            <a:tailEnd type="none" w="sm" len="sm"/>
          </a:ln>
          <a:effectLst>
            <a:outerShdw blurRad="635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7"/>
          <p:cNvSpPr/>
          <p:nvPr/>
        </p:nvSpPr>
        <p:spPr>
          <a:xfrm>
            <a:off x="2542032" y="1051560"/>
            <a:ext cx="2029968" cy="8229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5400"/>
              <a:buFont typeface="Calibri"/>
              <a:buNone/>
            </a:pPr>
            <a:r>
              <a:rPr lang="en-US" sz="5400" b="1" i="0" u="none" strike="noStrike" cap="none">
                <a:solidFill>
                  <a:srgbClr val="FFFFFF"/>
                </a:solidFill>
                <a:latin typeface="Calibri"/>
                <a:ea typeface="Calibri"/>
                <a:cs typeface="Calibri"/>
                <a:sym typeface="Calibri"/>
              </a:rPr>
              <a:t>2</a:t>
            </a:r>
            <a:endParaRPr sz="5400" b="0" i="0" u="none" strike="noStrike" cap="none">
              <a:solidFill>
                <a:schemeClr val="dk1"/>
              </a:solidFill>
              <a:latin typeface="Calibri"/>
              <a:ea typeface="Calibri"/>
              <a:cs typeface="Calibri"/>
              <a:sym typeface="Calibri"/>
            </a:endParaRPr>
          </a:p>
        </p:txBody>
      </p:sp>
      <p:sp>
        <p:nvSpPr>
          <p:cNvPr id="435" name="Google Shape;435;p17"/>
          <p:cNvSpPr/>
          <p:nvPr/>
        </p:nvSpPr>
        <p:spPr>
          <a:xfrm>
            <a:off x="2633472" y="1938528"/>
            <a:ext cx="1847088"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HIU Activates</a:t>
            </a:r>
            <a:endParaRPr sz="1300" b="0" i="0" u="none" strike="noStrike" cap="none">
              <a:solidFill>
                <a:schemeClr val="dk1"/>
              </a:solidFill>
              <a:latin typeface="Calibri"/>
              <a:ea typeface="Calibri"/>
              <a:cs typeface="Calibri"/>
              <a:sym typeface="Calibri"/>
            </a:endParaRPr>
          </a:p>
        </p:txBody>
      </p:sp>
      <p:sp>
        <p:nvSpPr>
          <p:cNvPr id="436" name="Google Shape;436;p17"/>
          <p:cNvSpPr/>
          <p:nvPr/>
        </p:nvSpPr>
        <p:spPr>
          <a:xfrm>
            <a:off x="2633472" y="2331720"/>
            <a:ext cx="1847088" cy="15727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HIU creates your institution in DMIS and activates your administrator account.</a:t>
            </a:r>
            <a:endParaRPr sz="1050" b="0" i="0" u="none" strike="noStrike" cap="none">
              <a:solidFill>
                <a:schemeClr val="dk1"/>
              </a:solidFill>
              <a:latin typeface="Calibri"/>
              <a:ea typeface="Calibri"/>
              <a:cs typeface="Calibri"/>
              <a:sym typeface="Calibri"/>
            </a:endParaRPr>
          </a:p>
        </p:txBody>
      </p:sp>
      <p:pic>
        <p:nvPicPr>
          <p:cNvPr id="437" name="Google Shape;437;p17" descr="preencoded.png"/>
          <p:cNvPicPr preferRelativeResize="0"/>
          <p:nvPr/>
        </p:nvPicPr>
        <p:blipFill rotWithShape="1">
          <a:blip r:embed="rId3">
            <a:alphaModFix/>
          </a:blip>
          <a:srcRect/>
          <a:stretch/>
        </p:blipFill>
        <p:spPr>
          <a:xfrm>
            <a:off x="4590288" y="2286000"/>
            <a:ext cx="109728" cy="182880"/>
          </a:xfrm>
          <a:prstGeom prst="rect">
            <a:avLst/>
          </a:prstGeom>
          <a:noFill/>
          <a:ln>
            <a:noFill/>
          </a:ln>
        </p:spPr>
      </p:pic>
      <p:sp>
        <p:nvSpPr>
          <p:cNvPr id="438" name="Google Shape;438;p17"/>
          <p:cNvSpPr/>
          <p:nvPr/>
        </p:nvSpPr>
        <p:spPr>
          <a:xfrm>
            <a:off x="4718304" y="1024128"/>
            <a:ext cx="2029968" cy="3017520"/>
          </a:xfrm>
          <a:prstGeom prst="rect">
            <a:avLst/>
          </a:prstGeom>
          <a:solidFill>
            <a:srgbClr val="2E7D32"/>
          </a:solidFill>
          <a:ln w="12700" cap="flat" cmpd="sng">
            <a:solidFill>
              <a:srgbClr val="2E7D32"/>
            </a:solidFill>
            <a:prstDash val="solid"/>
            <a:round/>
            <a:headEnd type="none" w="sm" len="sm"/>
            <a:tailEnd type="none" w="sm" len="sm"/>
          </a:ln>
          <a:effectLst>
            <a:outerShdw blurRad="635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7"/>
          <p:cNvSpPr/>
          <p:nvPr/>
        </p:nvSpPr>
        <p:spPr>
          <a:xfrm>
            <a:off x="4718304" y="1051560"/>
            <a:ext cx="2029968" cy="8229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5400"/>
              <a:buFont typeface="Calibri"/>
              <a:buNone/>
            </a:pPr>
            <a:r>
              <a:rPr lang="en-US" sz="5400" b="1" i="0" u="none" strike="noStrike" cap="none">
                <a:solidFill>
                  <a:srgbClr val="FFFFFF"/>
                </a:solidFill>
                <a:latin typeface="Calibri"/>
                <a:ea typeface="Calibri"/>
                <a:cs typeface="Calibri"/>
                <a:sym typeface="Calibri"/>
              </a:rPr>
              <a:t>3</a:t>
            </a:r>
            <a:endParaRPr sz="5400" b="0" i="0" u="none" strike="noStrike" cap="none">
              <a:solidFill>
                <a:schemeClr val="dk1"/>
              </a:solidFill>
              <a:latin typeface="Calibri"/>
              <a:ea typeface="Calibri"/>
              <a:cs typeface="Calibri"/>
              <a:sym typeface="Calibri"/>
            </a:endParaRPr>
          </a:p>
        </p:txBody>
      </p:sp>
      <p:sp>
        <p:nvSpPr>
          <p:cNvPr id="440" name="Google Shape;440;p17"/>
          <p:cNvSpPr/>
          <p:nvPr/>
        </p:nvSpPr>
        <p:spPr>
          <a:xfrm>
            <a:off x="4809744" y="1938528"/>
            <a:ext cx="1847088"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Attend Training</a:t>
            </a:r>
            <a:endParaRPr sz="1300" b="0" i="0" u="none" strike="noStrike" cap="none">
              <a:solidFill>
                <a:schemeClr val="dk1"/>
              </a:solidFill>
              <a:latin typeface="Calibri"/>
              <a:ea typeface="Calibri"/>
              <a:cs typeface="Calibri"/>
              <a:sym typeface="Calibri"/>
            </a:endParaRPr>
          </a:p>
        </p:txBody>
      </p:sp>
      <p:sp>
        <p:nvSpPr>
          <p:cNvPr id="441" name="Google Shape;441;p17"/>
          <p:cNvSpPr/>
          <p:nvPr/>
        </p:nvSpPr>
        <p:spPr>
          <a:xfrm>
            <a:off x="4809744" y="2331720"/>
            <a:ext cx="1847088" cy="15727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HIU conducts a training session for your administrator and key users.</a:t>
            </a:r>
            <a:endParaRPr sz="1050" b="0" i="0" u="none" strike="noStrike" cap="none">
              <a:solidFill>
                <a:schemeClr val="dk1"/>
              </a:solidFill>
              <a:latin typeface="Calibri"/>
              <a:ea typeface="Calibri"/>
              <a:cs typeface="Calibri"/>
              <a:sym typeface="Calibri"/>
            </a:endParaRPr>
          </a:p>
        </p:txBody>
      </p:sp>
      <p:pic>
        <p:nvPicPr>
          <p:cNvPr id="442" name="Google Shape;442;p17" descr="preencoded.png"/>
          <p:cNvPicPr preferRelativeResize="0"/>
          <p:nvPr/>
        </p:nvPicPr>
        <p:blipFill rotWithShape="1">
          <a:blip r:embed="rId3">
            <a:alphaModFix/>
          </a:blip>
          <a:srcRect/>
          <a:stretch/>
        </p:blipFill>
        <p:spPr>
          <a:xfrm>
            <a:off x="6766560" y="2286000"/>
            <a:ext cx="109728" cy="182880"/>
          </a:xfrm>
          <a:prstGeom prst="rect">
            <a:avLst/>
          </a:prstGeom>
          <a:noFill/>
          <a:ln>
            <a:noFill/>
          </a:ln>
        </p:spPr>
      </p:pic>
      <p:sp>
        <p:nvSpPr>
          <p:cNvPr id="443" name="Google Shape;443;p17"/>
          <p:cNvSpPr/>
          <p:nvPr/>
        </p:nvSpPr>
        <p:spPr>
          <a:xfrm>
            <a:off x="6894576" y="1024128"/>
            <a:ext cx="2029968" cy="3017520"/>
          </a:xfrm>
          <a:prstGeom prst="rect">
            <a:avLst/>
          </a:prstGeom>
          <a:solidFill>
            <a:srgbClr val="F57F17"/>
          </a:solidFill>
          <a:ln w="12700" cap="flat" cmpd="sng">
            <a:solidFill>
              <a:srgbClr val="F57F17"/>
            </a:solidFill>
            <a:prstDash val="solid"/>
            <a:round/>
            <a:headEnd type="none" w="sm" len="sm"/>
            <a:tailEnd type="none" w="sm" len="sm"/>
          </a:ln>
          <a:effectLst>
            <a:outerShdw blurRad="635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7"/>
          <p:cNvSpPr/>
          <p:nvPr/>
        </p:nvSpPr>
        <p:spPr>
          <a:xfrm>
            <a:off x="6894576" y="1051560"/>
            <a:ext cx="2029968" cy="8229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5400"/>
              <a:buFont typeface="Calibri"/>
              <a:buNone/>
            </a:pPr>
            <a:r>
              <a:rPr lang="en-US" sz="5400" b="1" i="0" u="none" strike="noStrike" cap="none">
                <a:solidFill>
                  <a:srgbClr val="FFFFFF"/>
                </a:solidFill>
                <a:latin typeface="Calibri"/>
                <a:ea typeface="Calibri"/>
                <a:cs typeface="Calibri"/>
                <a:sym typeface="Calibri"/>
              </a:rPr>
              <a:t>4</a:t>
            </a:r>
            <a:endParaRPr sz="5400" b="0" i="0" u="none" strike="noStrike" cap="none">
              <a:solidFill>
                <a:schemeClr val="dk1"/>
              </a:solidFill>
              <a:latin typeface="Calibri"/>
              <a:ea typeface="Calibri"/>
              <a:cs typeface="Calibri"/>
              <a:sym typeface="Calibri"/>
            </a:endParaRPr>
          </a:p>
        </p:txBody>
      </p:sp>
      <p:sp>
        <p:nvSpPr>
          <p:cNvPr id="445" name="Google Shape;445;p17"/>
          <p:cNvSpPr/>
          <p:nvPr/>
        </p:nvSpPr>
        <p:spPr>
          <a:xfrm>
            <a:off x="6986016" y="1938528"/>
            <a:ext cx="1847088"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Start Recording</a:t>
            </a:r>
            <a:endParaRPr sz="1300" b="0" i="0" u="none" strike="noStrike" cap="none">
              <a:solidFill>
                <a:schemeClr val="dk1"/>
              </a:solidFill>
              <a:latin typeface="Calibri"/>
              <a:ea typeface="Calibri"/>
              <a:cs typeface="Calibri"/>
              <a:sym typeface="Calibri"/>
            </a:endParaRPr>
          </a:p>
        </p:txBody>
      </p:sp>
      <p:sp>
        <p:nvSpPr>
          <p:cNvPr id="446" name="Google Shape;446;p17"/>
          <p:cNvSpPr/>
          <p:nvPr/>
        </p:nvSpPr>
        <p:spPr>
          <a:xfrm>
            <a:off x="6986016" y="2331720"/>
            <a:ext cx="1847088" cy="15727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alibri"/>
              <a:buNone/>
            </a:pPr>
            <a:r>
              <a:rPr lang="en-US" sz="1050" b="0" i="0" u="none" strike="noStrike" cap="none">
                <a:solidFill>
                  <a:srgbClr val="FFFFFF"/>
                </a:solidFill>
                <a:latin typeface="Calibri"/>
                <a:ea typeface="Calibri"/>
                <a:cs typeface="Calibri"/>
                <a:sym typeface="Calibri"/>
              </a:rPr>
              <a:t>Begin entering letters from Day 1. The system is ready to use immediately.</a:t>
            </a:r>
            <a:endParaRPr sz="1050" b="0" i="0" u="none" strike="noStrike" cap="none">
              <a:solidFill>
                <a:schemeClr val="dk1"/>
              </a:solidFill>
              <a:latin typeface="Calibri"/>
              <a:ea typeface="Calibri"/>
              <a:cs typeface="Calibri"/>
              <a:sym typeface="Calibri"/>
            </a:endParaRPr>
          </a:p>
        </p:txBody>
      </p:sp>
      <p:sp>
        <p:nvSpPr>
          <p:cNvPr id="447" name="Google Shape;447;p17"/>
          <p:cNvSpPr/>
          <p:nvPr/>
        </p:nvSpPr>
        <p:spPr>
          <a:xfrm>
            <a:off x="365760" y="4160520"/>
            <a:ext cx="8412480" cy="777240"/>
          </a:xfrm>
          <a:prstGeom prst="rect">
            <a:avLst/>
          </a:prstGeom>
          <a:solidFill>
            <a:srgbClr val="E3F2FD"/>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7"/>
          <p:cNvSpPr/>
          <p:nvPr/>
        </p:nvSpPr>
        <p:spPr>
          <a:xfrm>
            <a:off x="502920" y="4206240"/>
            <a:ext cx="8229600"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A237E"/>
              </a:buClr>
              <a:buSzPts val="1200"/>
              <a:buFont typeface="Calibri"/>
              <a:buNone/>
            </a:pPr>
            <a:r>
              <a:rPr lang="en-US" sz="1200" b="1" i="0" u="none" strike="noStrike" cap="none">
                <a:solidFill>
                  <a:srgbClr val="1A237E"/>
                </a:solidFill>
                <a:latin typeface="Calibri"/>
                <a:ea typeface="Calibri"/>
                <a:cs typeface="Calibri"/>
                <a:sym typeface="Calibri"/>
              </a:rPr>
              <a:t>To request your institution account, contact the Health Informatics Unit</a:t>
            </a:r>
            <a:endParaRPr sz="1200" b="0" i="0" u="none" strike="noStrike" cap="none">
              <a:solidFill>
                <a:schemeClr val="dk1"/>
              </a:solidFill>
              <a:latin typeface="Calibri"/>
              <a:ea typeface="Calibri"/>
              <a:cs typeface="Calibri"/>
              <a:sym typeface="Calibri"/>
            </a:endParaRPr>
          </a:p>
        </p:txBody>
      </p:sp>
      <p:sp>
        <p:nvSpPr>
          <p:cNvPr id="449" name="Google Shape;449;p17"/>
          <p:cNvSpPr/>
          <p:nvPr/>
        </p:nvSpPr>
        <p:spPr>
          <a:xfrm>
            <a:off x="502920" y="4480560"/>
            <a:ext cx="8229600"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838F"/>
              </a:buClr>
              <a:buSzPts val="1100"/>
              <a:buFont typeface="Calibri"/>
              <a:buNone/>
            </a:pPr>
            <a:r>
              <a:rPr lang="en-US" sz="1100" b="0" i="0" u="none" strike="noStrike" cap="none">
                <a:solidFill>
                  <a:srgbClr val="00838F"/>
                </a:solidFill>
                <a:latin typeface="Calibri"/>
                <a:ea typeface="Calibri"/>
                <a:cs typeface="Calibri"/>
                <a:sym typeface="Calibri"/>
              </a:rPr>
              <a:t>Email: [INSERT HIU EMAIL]   |   Phone: [INSERT HIU PHONE]   |   https://nchis.health.gov.lk/dmis/</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237E"/>
        </a:solidFill>
        <a:effectLst/>
      </p:bgPr>
    </p:bg>
    <p:spTree>
      <p:nvGrpSpPr>
        <p:cNvPr id="1" name="Shape 454"/>
        <p:cNvGrpSpPr/>
        <p:nvPr/>
      </p:nvGrpSpPr>
      <p:grpSpPr>
        <a:xfrm>
          <a:off x="0" y="0"/>
          <a:ext cx="0" cy="0"/>
          <a:chOff x="0" y="0"/>
          <a:chExt cx="0" cy="0"/>
        </a:xfrm>
      </p:grpSpPr>
      <p:sp>
        <p:nvSpPr>
          <p:cNvPr id="455" name="Google Shape;455;p18"/>
          <p:cNvSpPr/>
          <p:nvPr/>
        </p:nvSpPr>
        <p:spPr>
          <a:xfrm>
            <a:off x="0" y="0"/>
            <a:ext cx="9144000" cy="73152"/>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8"/>
          <p:cNvSpPr/>
          <p:nvPr/>
        </p:nvSpPr>
        <p:spPr>
          <a:xfrm>
            <a:off x="457200" y="548640"/>
            <a:ext cx="8229600" cy="7315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200"/>
              <a:buFont typeface="Calibri"/>
              <a:buNone/>
            </a:pPr>
            <a:r>
              <a:rPr lang="en-US" sz="3200" b="1" i="0" u="none" strike="noStrike" cap="none">
                <a:solidFill>
                  <a:srgbClr val="FFFFFF"/>
                </a:solidFill>
                <a:latin typeface="Calibri"/>
                <a:ea typeface="Calibri"/>
                <a:cs typeface="Calibri"/>
                <a:sym typeface="Calibri"/>
              </a:rPr>
              <a:t>Direct Your Unit to Join DMIS Today</a:t>
            </a:r>
            <a:endParaRPr sz="3200" b="0" i="0" u="none" strike="noStrike" cap="none">
              <a:solidFill>
                <a:schemeClr val="dk1"/>
              </a:solidFill>
              <a:latin typeface="Calibri"/>
              <a:ea typeface="Calibri"/>
              <a:cs typeface="Calibri"/>
              <a:sym typeface="Calibri"/>
            </a:endParaRPr>
          </a:p>
        </p:txBody>
      </p:sp>
      <p:sp>
        <p:nvSpPr>
          <p:cNvPr id="457" name="Google Shape;457;p18"/>
          <p:cNvSpPr/>
          <p:nvPr/>
        </p:nvSpPr>
        <p:spPr>
          <a:xfrm>
            <a:off x="457200" y="1298448"/>
            <a:ext cx="822960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90CAF9"/>
              </a:buClr>
              <a:buSzPts val="1600"/>
              <a:buFont typeface="Calibri"/>
              <a:buNone/>
            </a:pPr>
            <a:r>
              <a:rPr lang="en-US" sz="1600" b="0" i="0" u="none" strike="noStrike" cap="none">
                <a:solidFill>
                  <a:srgbClr val="90CAF9"/>
                </a:solidFill>
                <a:latin typeface="Calibri"/>
                <a:ea typeface="Calibri"/>
                <a:cs typeface="Calibri"/>
                <a:sym typeface="Calibri"/>
              </a:rPr>
              <a:t>DMIS is built. It is running. It is free. It is supported by HIU.</a:t>
            </a:r>
            <a:endParaRPr sz="1600" b="0" i="0" u="none" strike="noStrike" cap="none">
              <a:solidFill>
                <a:schemeClr val="dk1"/>
              </a:solidFill>
              <a:latin typeface="Calibri"/>
              <a:ea typeface="Calibri"/>
              <a:cs typeface="Calibri"/>
              <a:sym typeface="Calibri"/>
            </a:endParaRPr>
          </a:p>
        </p:txBody>
      </p:sp>
      <p:sp>
        <p:nvSpPr>
          <p:cNvPr id="458" name="Google Shape;458;p18"/>
          <p:cNvSpPr/>
          <p:nvPr/>
        </p:nvSpPr>
        <p:spPr>
          <a:xfrm>
            <a:off x="457200" y="1645920"/>
            <a:ext cx="822960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B0BEC5"/>
              </a:buClr>
              <a:buSzPts val="1400"/>
              <a:buFont typeface="Calibri"/>
              <a:buNone/>
            </a:pPr>
            <a:r>
              <a:rPr lang="en-US" sz="1400" b="0" i="0" u="none" strike="noStrike" cap="none">
                <a:solidFill>
                  <a:srgbClr val="B0BEC5"/>
                </a:solidFill>
                <a:latin typeface="Calibri"/>
                <a:ea typeface="Calibri"/>
                <a:cs typeface="Calibri"/>
                <a:sym typeface="Calibri"/>
              </a:rPr>
              <a:t>The Secretary's Office has used it since 2022. It is time for all of Suwasiripaya to follow.</a:t>
            </a:r>
            <a:endParaRPr sz="1400" b="0" i="0" u="none" strike="noStrike" cap="none">
              <a:solidFill>
                <a:schemeClr val="dk1"/>
              </a:solidFill>
              <a:latin typeface="Calibri"/>
              <a:ea typeface="Calibri"/>
              <a:cs typeface="Calibri"/>
              <a:sym typeface="Calibri"/>
            </a:endParaRPr>
          </a:p>
        </p:txBody>
      </p:sp>
      <p:sp>
        <p:nvSpPr>
          <p:cNvPr id="459" name="Google Shape;459;p18"/>
          <p:cNvSpPr/>
          <p:nvPr/>
        </p:nvSpPr>
        <p:spPr>
          <a:xfrm>
            <a:off x="640080" y="2103120"/>
            <a:ext cx="2377440" cy="914400"/>
          </a:xfrm>
          <a:prstGeom prst="rect">
            <a:avLst/>
          </a:prstGeom>
          <a:solidFill>
            <a:srgbClr val="1E3A5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8"/>
          <p:cNvSpPr/>
          <p:nvPr/>
        </p:nvSpPr>
        <p:spPr>
          <a:xfrm>
            <a:off x="640080" y="2148840"/>
            <a:ext cx="237744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600"/>
              <a:buFont typeface="Calibri"/>
              <a:buNone/>
            </a:pPr>
            <a:r>
              <a:rPr lang="en-US" sz="2600" b="1" i="0" u="none" strike="noStrike" cap="none">
                <a:solidFill>
                  <a:srgbClr val="FFFFFF"/>
                </a:solidFill>
                <a:latin typeface="Calibri"/>
                <a:ea typeface="Calibri"/>
                <a:cs typeface="Calibri"/>
                <a:sym typeface="Calibri"/>
              </a:rPr>
              <a:t>130,778</a:t>
            </a:r>
            <a:endParaRPr sz="2600" b="0" i="0" u="none" strike="noStrike" cap="none">
              <a:solidFill>
                <a:schemeClr val="dk1"/>
              </a:solidFill>
              <a:latin typeface="Calibri"/>
              <a:ea typeface="Calibri"/>
              <a:cs typeface="Calibri"/>
              <a:sym typeface="Calibri"/>
            </a:endParaRPr>
          </a:p>
        </p:txBody>
      </p:sp>
      <p:sp>
        <p:nvSpPr>
          <p:cNvPr id="461" name="Google Shape;461;p18"/>
          <p:cNvSpPr/>
          <p:nvPr/>
        </p:nvSpPr>
        <p:spPr>
          <a:xfrm>
            <a:off x="640080" y="2633472"/>
            <a:ext cx="2377440"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90CAF9"/>
              </a:buClr>
              <a:buSzPts val="1100"/>
              <a:buFont typeface="Calibri"/>
              <a:buNone/>
            </a:pPr>
            <a:r>
              <a:rPr lang="en-US" sz="1100" b="0" i="0" u="none" strike="noStrike" cap="none">
                <a:solidFill>
                  <a:srgbClr val="90CAF9"/>
                </a:solidFill>
                <a:latin typeface="Calibri"/>
                <a:ea typeface="Calibri"/>
                <a:cs typeface="Calibri"/>
                <a:sym typeface="Calibri"/>
              </a:rPr>
              <a:t>Letters Recorded</a:t>
            </a:r>
            <a:endParaRPr sz="1100" b="0" i="0" u="none" strike="noStrike" cap="none">
              <a:solidFill>
                <a:schemeClr val="dk1"/>
              </a:solidFill>
              <a:latin typeface="Calibri"/>
              <a:ea typeface="Calibri"/>
              <a:cs typeface="Calibri"/>
              <a:sym typeface="Calibri"/>
            </a:endParaRPr>
          </a:p>
        </p:txBody>
      </p:sp>
      <p:sp>
        <p:nvSpPr>
          <p:cNvPr id="462" name="Google Shape;462;p18"/>
          <p:cNvSpPr/>
          <p:nvPr/>
        </p:nvSpPr>
        <p:spPr>
          <a:xfrm>
            <a:off x="3383280" y="2103120"/>
            <a:ext cx="2377440" cy="914400"/>
          </a:xfrm>
          <a:prstGeom prst="rect">
            <a:avLst/>
          </a:prstGeom>
          <a:solidFill>
            <a:srgbClr val="1E3A5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8"/>
          <p:cNvSpPr/>
          <p:nvPr/>
        </p:nvSpPr>
        <p:spPr>
          <a:xfrm>
            <a:off x="3383280" y="2148840"/>
            <a:ext cx="237744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600"/>
              <a:buFont typeface="Calibri"/>
              <a:buNone/>
            </a:pPr>
            <a:r>
              <a:rPr lang="en-US" sz="2600" b="1" i="0" u="none" strike="noStrike" cap="none">
                <a:solidFill>
                  <a:srgbClr val="FFFFFF"/>
                </a:solidFill>
                <a:latin typeface="Calibri"/>
                <a:ea typeface="Calibri"/>
                <a:cs typeface="Calibri"/>
                <a:sym typeface="Calibri"/>
              </a:rPr>
              <a:t>Zero Cost</a:t>
            </a:r>
            <a:endParaRPr sz="2600" b="0" i="0" u="none" strike="noStrike" cap="none">
              <a:solidFill>
                <a:schemeClr val="dk1"/>
              </a:solidFill>
              <a:latin typeface="Calibri"/>
              <a:ea typeface="Calibri"/>
              <a:cs typeface="Calibri"/>
              <a:sym typeface="Calibri"/>
            </a:endParaRPr>
          </a:p>
        </p:txBody>
      </p:sp>
      <p:sp>
        <p:nvSpPr>
          <p:cNvPr id="464" name="Google Shape;464;p18"/>
          <p:cNvSpPr/>
          <p:nvPr/>
        </p:nvSpPr>
        <p:spPr>
          <a:xfrm>
            <a:off x="3383280" y="2633472"/>
            <a:ext cx="2377440"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90CAF9"/>
              </a:buClr>
              <a:buSzPts val="1100"/>
              <a:buFont typeface="Calibri"/>
              <a:buNone/>
            </a:pPr>
            <a:r>
              <a:rPr lang="en-US" sz="1100" b="0" i="0" u="none" strike="noStrike" cap="none">
                <a:solidFill>
                  <a:srgbClr val="90CAF9"/>
                </a:solidFill>
                <a:latin typeface="Calibri"/>
                <a:ea typeface="Calibri"/>
                <a:cs typeface="Calibri"/>
                <a:sym typeface="Calibri"/>
              </a:rPr>
              <a:t>To Your Institution</a:t>
            </a:r>
            <a:endParaRPr sz="1100" b="0" i="0" u="none" strike="noStrike" cap="none">
              <a:solidFill>
                <a:schemeClr val="dk1"/>
              </a:solidFill>
              <a:latin typeface="Calibri"/>
              <a:ea typeface="Calibri"/>
              <a:cs typeface="Calibri"/>
              <a:sym typeface="Calibri"/>
            </a:endParaRPr>
          </a:p>
        </p:txBody>
      </p:sp>
      <p:sp>
        <p:nvSpPr>
          <p:cNvPr id="465" name="Google Shape;465;p18"/>
          <p:cNvSpPr/>
          <p:nvPr/>
        </p:nvSpPr>
        <p:spPr>
          <a:xfrm>
            <a:off x="6126480" y="2103120"/>
            <a:ext cx="2377440" cy="914400"/>
          </a:xfrm>
          <a:prstGeom prst="rect">
            <a:avLst/>
          </a:prstGeom>
          <a:solidFill>
            <a:srgbClr val="1E3A5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8"/>
          <p:cNvSpPr/>
          <p:nvPr/>
        </p:nvSpPr>
        <p:spPr>
          <a:xfrm>
            <a:off x="6126480" y="2148840"/>
            <a:ext cx="237744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2600"/>
              <a:buFont typeface="Calibri"/>
              <a:buNone/>
            </a:pPr>
            <a:r>
              <a:rPr lang="en-US" sz="2600" b="1" i="0" u="none" strike="noStrike" cap="none">
                <a:solidFill>
                  <a:srgbClr val="FFFFFF"/>
                </a:solidFill>
                <a:latin typeface="Calibri"/>
                <a:ea typeface="Calibri"/>
                <a:cs typeface="Calibri"/>
                <a:sym typeface="Calibri"/>
              </a:rPr>
              <a:t>2022</a:t>
            </a:r>
            <a:endParaRPr sz="2600" b="0" i="0" u="none" strike="noStrike" cap="none">
              <a:solidFill>
                <a:schemeClr val="dk1"/>
              </a:solidFill>
              <a:latin typeface="Calibri"/>
              <a:ea typeface="Calibri"/>
              <a:cs typeface="Calibri"/>
              <a:sym typeface="Calibri"/>
            </a:endParaRPr>
          </a:p>
        </p:txBody>
      </p:sp>
      <p:sp>
        <p:nvSpPr>
          <p:cNvPr id="467" name="Google Shape;467;p18"/>
          <p:cNvSpPr/>
          <p:nvPr/>
        </p:nvSpPr>
        <p:spPr>
          <a:xfrm>
            <a:off x="6126480" y="2633472"/>
            <a:ext cx="2377440"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90CAF9"/>
              </a:buClr>
              <a:buSzPts val="1100"/>
              <a:buFont typeface="Calibri"/>
              <a:buNone/>
            </a:pPr>
            <a:r>
              <a:rPr lang="en-US" sz="1100" b="0" i="0" u="none" strike="noStrike" cap="none">
                <a:solidFill>
                  <a:srgbClr val="90CAF9"/>
                </a:solidFill>
                <a:latin typeface="Calibri"/>
                <a:ea typeface="Calibri"/>
                <a:cs typeface="Calibri"/>
                <a:sym typeface="Calibri"/>
              </a:rPr>
              <a:t>Operational Since</a:t>
            </a:r>
            <a:endParaRPr sz="1100" b="0" i="0" u="none" strike="noStrike" cap="none">
              <a:solidFill>
                <a:schemeClr val="dk1"/>
              </a:solidFill>
              <a:latin typeface="Calibri"/>
              <a:ea typeface="Calibri"/>
              <a:cs typeface="Calibri"/>
              <a:sym typeface="Calibri"/>
            </a:endParaRPr>
          </a:p>
        </p:txBody>
      </p:sp>
      <p:sp>
        <p:nvSpPr>
          <p:cNvPr id="468" name="Google Shape;468;p18"/>
          <p:cNvSpPr/>
          <p:nvPr/>
        </p:nvSpPr>
        <p:spPr>
          <a:xfrm>
            <a:off x="1371600" y="3246120"/>
            <a:ext cx="6400800" cy="749808"/>
          </a:xfrm>
          <a:prstGeom prst="rect">
            <a:avLst/>
          </a:prstGeom>
          <a:solidFill>
            <a:srgbClr val="00838F"/>
          </a:solidFill>
          <a:ln w="12700" cap="flat" cmpd="sng">
            <a:solidFill>
              <a:srgbClr val="00838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8"/>
          <p:cNvSpPr/>
          <p:nvPr/>
        </p:nvSpPr>
        <p:spPr>
          <a:xfrm>
            <a:off x="1371600" y="3291840"/>
            <a:ext cx="6400800" cy="32918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700"/>
              <a:buFont typeface="Calibri"/>
              <a:buNone/>
            </a:pPr>
            <a:r>
              <a:rPr lang="en-US" sz="1700" b="1" i="0" u="none" strike="noStrike" cap="none">
                <a:solidFill>
                  <a:srgbClr val="FFFFFF"/>
                </a:solidFill>
                <a:latin typeface="Calibri"/>
                <a:ea typeface="Calibri"/>
                <a:cs typeface="Calibri"/>
                <a:sym typeface="Calibri"/>
              </a:rPr>
              <a:t>One request to HIU is all it takes</a:t>
            </a:r>
            <a:endParaRPr sz="1700" b="0" i="0" u="none" strike="noStrike" cap="none">
              <a:solidFill>
                <a:schemeClr val="dk1"/>
              </a:solidFill>
              <a:latin typeface="Calibri"/>
              <a:ea typeface="Calibri"/>
              <a:cs typeface="Calibri"/>
              <a:sym typeface="Calibri"/>
            </a:endParaRPr>
          </a:p>
        </p:txBody>
      </p:sp>
      <p:sp>
        <p:nvSpPr>
          <p:cNvPr id="470" name="Google Shape;470;p18"/>
          <p:cNvSpPr/>
          <p:nvPr/>
        </p:nvSpPr>
        <p:spPr>
          <a:xfrm>
            <a:off x="1371600" y="3611880"/>
            <a:ext cx="6400800" cy="3200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[INSERT HIU EMAIL]   |   https://nchis.health.gov.lk/dmis/</a:t>
            </a:r>
            <a:endParaRPr sz="1200" b="0" i="0" u="none" strike="noStrike" cap="none">
              <a:solidFill>
                <a:schemeClr val="dk1"/>
              </a:solidFill>
              <a:latin typeface="Calibri"/>
              <a:ea typeface="Calibri"/>
              <a:cs typeface="Calibri"/>
              <a:sym typeface="Calibri"/>
            </a:endParaRPr>
          </a:p>
        </p:txBody>
      </p:sp>
      <p:sp>
        <p:nvSpPr>
          <p:cNvPr id="471" name="Google Shape;471;p18"/>
          <p:cNvSpPr/>
          <p:nvPr/>
        </p:nvSpPr>
        <p:spPr>
          <a:xfrm>
            <a:off x="0" y="4983480"/>
            <a:ext cx="9144000" cy="160020"/>
          </a:xfrm>
          <a:prstGeom prst="rect">
            <a:avLst/>
          </a:prstGeom>
          <a:solidFill>
            <a:srgbClr val="F57F17"/>
          </a:solidFill>
          <a:ln w="12700" cap="flat" cmpd="sng">
            <a:solidFill>
              <a:srgbClr val="F57F1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8"/>
          <p:cNvSpPr/>
          <p:nvPr/>
        </p:nvSpPr>
        <p:spPr>
          <a:xfrm>
            <a:off x="0" y="4983480"/>
            <a:ext cx="9144000" cy="1600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Ministry of Health Sri Lanka  ·  Health Informatics Unit  ·  DMIS  ·  Open Source  ·  AI-Assisted</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1774</Words>
  <Application>Microsoft Office PowerPoint</Application>
  <PresentationFormat>On-screen Show (16:9)</PresentationFormat>
  <Paragraphs>256</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Buddhika Ariyaratne</cp:lastModifiedBy>
  <cp:revision>1</cp:revision>
  <dcterms:modified xsi:type="dcterms:W3CDTF">2026-05-03T05:47:18Z</dcterms:modified>
</cp:coreProperties>
</file>